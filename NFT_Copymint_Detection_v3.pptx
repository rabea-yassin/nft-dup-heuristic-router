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media/audio1.wav" ContentType="audio/x-wav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9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8" r:id="rId29"/>
    <p:sldId id="277" r:id="rId11"/>
    <p:sldId id="265" r:id="rId12"/>
    <p:sldId id="267" r:id="rId13"/>
    <p:sldId id="266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</p:sldIdLst>
  <p:sldSz cx="16257588" cy="9144000"/>
  <p:notesSz cx="9144000" cy="1625758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78"/>
    <p:restoredTop sz="73623"/>
  </p:normalViewPr>
  <p:slideViewPr>
    <p:cSldViewPr snapToGrid="0" snapToObjects="1">
      <p:cViewPr varScale="1">
        <p:scale>
          <a:sx n="68" d="100"/>
          <a:sy n="68" d="100"/>
        </p:scale>
        <p:origin x="1632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18.xml"/><Relationship Id="rId19" Type="http://schemas.openxmlformats.org/officeDocument/2006/relationships/slide" Target="slides/slide19.xml"/><Relationship Id="rId20" Type="http://schemas.openxmlformats.org/officeDocument/2006/relationships/slide" Target="slides/slide20.xml"/><Relationship Id="rId21" Type="http://schemas.openxmlformats.org/officeDocument/2006/relationships/slide" Target="slides/slide21.xml"/><Relationship Id="rId22" Type="http://schemas.openxmlformats.org/officeDocument/2006/relationships/slide" Target="slides/slide22.xml"/><Relationship Id="rId23" Type="http://schemas.openxmlformats.org/officeDocument/2006/relationships/slide" Target="slides/slide23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Relationship Id="rId29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1A5FB4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500" b="0" i="0" u="none" strike="noStrike">
                    <a:solidFill>
                      <a:srgbClr val="2B2B2B"/>
                    </a:solidFill>
                    <a:latin typeface="Courier New"/>
                  </a:defRPr>
                </a:pPr>
                <a:endParaRPr lang="he-I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pixelated</c:v>
                </c:pt>
                <c:pt idx="1">
                  <c:v>recoloured</c:v>
                </c:pt>
                <c:pt idx="2">
                  <c:v>flipped / rotated</c:v>
                </c:pt>
                <c:pt idx="3">
                  <c:v>cropped / resized</c:v>
                </c:pt>
                <c:pt idx="4">
                  <c:v>background changed</c:v>
                </c:pt>
                <c:pt idx="5">
                  <c:v>exact copy</c:v>
                </c:pt>
                <c:pt idx="6">
                  <c:v>logo or text added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28.5</c:v>
                </c:pt>
                <c:pt idx="1">
                  <c:v>79.8</c:v>
                </c:pt>
                <c:pt idx="2">
                  <c:v>81.7</c:v>
                </c:pt>
                <c:pt idx="3">
                  <c:v>98.3</c:v>
                </c:pt>
                <c:pt idx="4">
                  <c:v>98.9</c:v>
                </c:pt>
                <c:pt idx="5">
                  <c:v>100</c:v>
                </c:pt>
                <c:pt idx="6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B4F-CC49-846E-9A51E74248E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2B2B2B"/>
                </a:solidFill>
                <a:latin typeface="Arial"/>
              </a:defRPr>
            </a:pPr>
            <a:endParaRPr lang="he-IL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12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61605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he-IL" sz="1400" dirty="0">
                <a:cs typeface="Arial"/>
              </a:rPr>
              <a:t>המטרה המקורית שלנו הייתה יעילות — להפוך את הגלאי לזול יותר להרצה. </a:t>
            </a:r>
            <a:br>
              <a:rPr lang="en-US" sz="1400" dirty="0">
                <a:cs typeface="Arial"/>
              </a:rPr>
            </a:br>
            <a:r>
              <a:rPr lang="he-IL" sz="1400" dirty="0">
                <a:cs typeface="Arial"/>
              </a:rPr>
              <a:t>הרעיון היה edit </a:t>
            </a:r>
            <a:r>
              <a:rPr lang="he-IL" sz="1400" dirty="0" err="1">
                <a:cs typeface="Arial"/>
              </a:rPr>
              <a:t>classifier</a:t>
            </a:r>
            <a:r>
              <a:rPr lang="he-IL" sz="1400" dirty="0">
                <a:cs typeface="Arial"/>
              </a:rPr>
              <a:t>:</a:t>
            </a:r>
            <a:r>
              <a:rPr lang="en-US" sz="1400" dirty="0">
                <a:cs typeface="Arial"/>
              </a:rPr>
              <a:t> </a:t>
            </a:r>
            <a:r>
              <a:rPr lang="he-IL" sz="1400" dirty="0">
                <a:cs typeface="Arial"/>
              </a:rPr>
              <a:t>להסתכל קודם על התמונה, להבין איזה סוג עריכה היא עברה, ולהריץ רק את החיפושים שבאמת יכולים לעזור.</a:t>
            </a:r>
            <a:br>
              <a:rPr lang="en-US" sz="1400" dirty="0">
                <a:cs typeface="Arial"/>
              </a:rPr>
            </a:br>
            <a:r>
              <a:rPr lang="he-IL" sz="1400" dirty="0">
                <a:cs typeface="Arial"/>
              </a:rPr>
              <a:t>אם אפשר לזהות שתמונה עברה פיקסליזציה, אין טעם לחפש בעץ של sHash — הוא נשבר בדיוק על זה.</a:t>
            </a:r>
            <a:br>
              <a:rPr lang="en-US" sz="1400" dirty="0">
                <a:cs typeface="Arial"/>
              </a:rPr>
            </a:br>
            <a:r>
              <a:rPr lang="he-IL" sz="1400" dirty="0">
                <a:cs typeface="Arial"/>
              </a:rPr>
              <a:t>אז פחות חיפושים לכל בדיקה.</a:t>
            </a:r>
          </a:p>
          <a:p>
            <a:pPr algn="r" rtl="1"/>
            <a:r>
              <a:rPr lang="he-IL" sz="1400" dirty="0">
                <a:cs typeface="Arial"/>
              </a:rPr>
              <a:t>אבל כדי לבנות את זה, היינו צריכים להבין בדיוק מה כל אחד מארבעת הסיגנלים עושה, ואיפה כל אחד נשבר — ושם הפרויקט השתנה.</a:t>
            </a:r>
          </a:p>
          <a:p>
            <a:pPr algn="r" rtl="1"/>
            <a:endParaRPr lang="he-IL" sz="1400" dirty="0"/>
          </a:p>
          <a:p>
            <a:pPr algn="r" rtl="1"/>
            <a:r>
              <a:rPr lang="he-IL" sz="1400" dirty="0">
                <a:cs typeface="Arial"/>
              </a:rPr>
              <a:t>מעבר:</a:t>
            </a:r>
            <a:br>
              <a:rPr lang="en-US" sz="1400" dirty="0">
                <a:cs typeface="Arial"/>
              </a:rPr>
            </a:br>
            <a:r>
              <a:rPr lang="he-IL" sz="1400" dirty="0">
                <a:cs typeface="Arial"/>
              </a:rPr>
              <a:t> „וכשהסתכלנו מקרוב על הסיגנל הרביעי, sHash, גילינו שהוא לא עובד.”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he-IL" sz="1400" dirty="0">
                <a:cs typeface="Arial"/>
              </a:rPr>
              <a:t>sHash חותך את התמונה לחלקים, ומחשב טביעת אצבע לכל חלק — כלומר תמונה אחת נותנת רשימה, לא מספר אחד.</a:t>
            </a:r>
            <a:br>
              <a:rPr lang="en-US" sz="1400" dirty="0">
                <a:cs typeface="Arial"/>
              </a:rPr>
            </a:br>
            <a:r>
              <a:rPr lang="he-IL" sz="1400" dirty="0">
                <a:cs typeface="Arial"/>
              </a:rPr>
              <a:t> כדי להשוות שתי תמונות, מתאימים בין הרשימות: לכל חלק של A מוצאים את החלק הכי קרוב ב־B, ועושים ממוצע.</a:t>
            </a:r>
          </a:p>
          <a:p>
            <a:pPr algn="r" rtl="1"/>
            <a:r>
              <a:rPr lang="he-IL" sz="1400" dirty="0">
                <a:cs typeface="Arial"/>
              </a:rPr>
              <a:t>עכשיו תראו מה קורה כשב־B יש חלק שאין </a:t>
            </a:r>
            <a:r>
              <a:rPr lang="he-IL" sz="1400" dirty="0" err="1">
                <a:cs typeface="Arial"/>
              </a:rPr>
              <a:t>ב־A</a:t>
            </a:r>
            <a:r>
              <a:rPr lang="he-IL" sz="1400" dirty="0">
                <a:cs typeface="Arial"/>
              </a:rPr>
              <a:t>.</a:t>
            </a:r>
            <a:br>
              <a:rPr lang="en-US" sz="1400" dirty="0">
                <a:cs typeface="Arial"/>
              </a:rPr>
            </a:br>
            <a:br>
              <a:rPr lang="en-US" sz="1400" dirty="0">
                <a:cs typeface="Arial"/>
              </a:rPr>
            </a:br>
            <a:r>
              <a:rPr lang="he-IL" sz="1400" dirty="0">
                <a:cs typeface="Arial"/>
              </a:rPr>
              <a:t>* אנחנו מניחים שלחלקים דומים יש הפרש של 2 ולחלקיים ממש זרים יש הפרש של 34*</a:t>
            </a:r>
            <a:br>
              <a:rPr lang="en-US" sz="1400" dirty="0">
                <a:cs typeface="Arial"/>
              </a:rPr>
            </a:br>
            <a:br>
              <a:rPr lang="en-US" sz="1400" dirty="0">
                <a:cs typeface="Arial"/>
              </a:rPr>
            </a:br>
            <a:r>
              <a:rPr lang="he-IL" sz="1400" dirty="0">
                <a:cs typeface="Arial"/>
              </a:rPr>
              <a:t> בכיוון מ־A ל־B, החלק העודף לא נכנס לחישוב בכלל — כל חלק של A מצא התאמה טובה, אז הממוצע הוא 2. בכיוון מ־B ל־A, לאותו חלק אין שום התאמה, אז הוא מוסיף 34 לחישוב, והממוצע הוא 10.</a:t>
            </a:r>
            <a:br>
              <a:rPr lang="en-US" sz="1400" dirty="0">
                <a:cs typeface="Arial"/>
              </a:rPr>
            </a:br>
            <a:endParaRPr lang="he-IL" sz="1400" dirty="0">
              <a:cs typeface="Arial"/>
            </a:endParaRPr>
          </a:p>
          <a:p>
            <a:pPr algn="r" rtl="1"/>
            <a:r>
              <a:rPr lang="he-IL" sz="1400" dirty="0">
                <a:cs typeface="Arial"/>
              </a:rPr>
              <a:t>אותן שתי תמונות — שתי תשובות שונות. זה לא מרחק. וזה לא רק תיאורטי</a:t>
            </a:r>
            <a:r>
              <a:rPr lang="en-US" sz="1400" dirty="0">
                <a:cs typeface="Arial"/>
              </a:rPr>
              <a:t>: </a:t>
            </a:r>
            <a:r>
              <a:rPr lang="he-IL" sz="1400" dirty="0">
                <a:cs typeface="Arial"/>
              </a:rPr>
              <a:t>בקובץ הנתונים שהכותבים שיתפו איתנו, המרחק המדווח מתאים לכיוון אחד בכל 1,802 הזוגות — ולכיוון השני רק ב־240. אגב, זה גם מה שאפשר לנו לוודא שהמימוש שלנו זהה לשלהם.</a:t>
            </a:r>
          </a:p>
          <a:p>
            <a:pPr algn="r" rtl="1"/>
            <a:endParaRPr lang="he-IL" sz="1400" dirty="0"/>
          </a:p>
          <a:p>
            <a:pPr algn="r" rtl="1"/>
            <a:r>
              <a:rPr lang="he-IL" sz="1400" dirty="0">
                <a:cs typeface="Arial"/>
              </a:rPr>
              <a:t>מעבר: „לבד, זה סתם קוריוז. הבעיה היא במה שעושים עם המספר הזה.”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he-IL" sz="1400" dirty="0">
                <a:cs typeface="Arial"/>
              </a:rPr>
              <a:t>עץ החיפוש מהיר כי הוא מדלג על ענפים.</a:t>
            </a:r>
            <a:br>
              <a:rPr lang="he-IL" sz="1400" dirty="0"/>
            </a:br>
            <a:r>
              <a:rPr lang="he-IL" sz="1400" dirty="0">
                <a:cs typeface="Arial"/>
              </a:rPr>
              <a:t>הוא יכול לעשות את זה רק אם המרחקים שומרים על כלל אחד: הדרך הישירה אף פעם לא ארוכה יותר מהעקיפה — אי־שוויון המשולש.</a:t>
            </a:r>
            <a:br>
              <a:rPr lang="he-IL" sz="1400" dirty="0"/>
            </a:br>
            <a:br>
              <a:rPr lang="he-IL" sz="1400" dirty="0"/>
            </a:br>
            <a:r>
              <a:rPr lang="he-IL" sz="1400" dirty="0">
                <a:cs typeface="Arial"/>
              </a:rPr>
              <a:t>* בדוגמה הזאת אנחנו מניחים: בין שני חלקים של אותה חיה המרחק הוא 2, ובין חתול לכלב המרחק הוא 30 *</a:t>
            </a:r>
          </a:p>
          <a:p>
            <a:pPr algn="r" rtl="1"/>
            <a:r>
              <a:rPr lang="he-IL" sz="1400" dirty="0">
                <a:cs typeface="Arial"/>
              </a:rPr>
              <a:t>הנה מה שמשתבש. תמונה A היא חתול. תמונה C היא כלב. תמונה B היא תמונה שיש בה את שניהם.</a:t>
            </a:r>
            <a:br>
              <a:rPr lang="he-IL" sz="1400" dirty="0"/>
            </a:br>
            <a:r>
              <a:rPr lang="he-IL" sz="1400" dirty="0">
                <a:cs typeface="Arial"/>
              </a:rPr>
              <a:t>[להצביע על B]</a:t>
            </a:r>
            <a:br>
              <a:rPr lang="he-IL" sz="1400" dirty="0"/>
            </a:br>
            <a:r>
              <a:rPr lang="he-IL" sz="1400" dirty="0">
                <a:cs typeface="Arial"/>
              </a:rPr>
              <a:t>בגלל ש־sHash משווה חלק־חלק, B נראית קרובה ל־A — יש בה חתול — וקרובה ל־C, כי יש בה כלב.</a:t>
            </a:r>
            <a:br>
              <a:rPr lang="he-IL" sz="1400" dirty="0"/>
            </a:br>
            <a:r>
              <a:rPr lang="he-IL" sz="1400" dirty="0">
                <a:cs typeface="Arial"/>
              </a:rPr>
              <a:t>מ־A ל־B זה 2. מ־B ל־C זה 16. אז לפי הכלל, A ל־C יכול להיות לכל היותר 18.</a:t>
            </a:r>
            <a:br>
              <a:rPr lang="he-IL" sz="1400" dirty="0"/>
            </a:br>
            <a:r>
              <a:rPr lang="he-IL" sz="1400" dirty="0">
                <a:cs typeface="Arial"/>
              </a:rPr>
              <a:t>אבל A ל־C זה בפועל 30 — יותר מ־2 ועוד 16. הכלל פשוט לא מתקיים.</a:t>
            </a:r>
            <a:br>
              <a:rPr lang="he-IL" sz="1400" dirty="0"/>
            </a:br>
            <a:r>
              <a:rPr lang="he-IL" sz="1400" dirty="0">
                <a:cs typeface="Arial"/>
              </a:rPr>
              <a:t>וברגע שהוא לא מתקיים, הדילוגים של העץ כבר לא בטוחים.</a:t>
            </a:r>
          </a:p>
          <a:p>
            <a:pPr algn="r" rtl="1"/>
            <a:r>
              <a:rPr lang="he-IL" sz="1400" dirty="0">
                <a:cs typeface="Arial"/>
              </a:rPr>
              <a:t>איך זה הופך להעתק שמפוספס:</a:t>
            </a:r>
            <a:br>
              <a:rPr lang="he-IL" sz="1400" dirty="0"/>
            </a:br>
            <a:r>
              <a:rPr lang="he-IL" sz="1400" dirty="0">
                <a:cs typeface="Arial"/>
              </a:rPr>
              <a:t>נגיד ש־B יושבת בשורש העץ, ומתחתיה שמור העתק אמיתי של החתול — במרחק 16 ממנה, בגלל הכלב של B.</a:t>
            </a:r>
            <a:br>
              <a:rPr lang="he-IL" sz="1400" dirty="0"/>
            </a:br>
            <a:r>
              <a:rPr lang="he-IL" sz="1400" dirty="0">
                <a:cs typeface="Arial"/>
              </a:rPr>
              <a:t>מגיעה שאילתה של חתול. המרחק שלה ל־B הוא 2.</a:t>
            </a:r>
            <a:br>
              <a:rPr lang="he-IL" sz="1400" dirty="0"/>
            </a:br>
            <a:r>
              <a:rPr lang="he-IL" sz="1400" dirty="0">
                <a:cs typeface="Arial"/>
              </a:rPr>
              <a:t>העץ בודק רק ענפים שקרובים ל־2, אז הענף של 16 נראה לו רחוק מדי — והוא מדלג עליו.</a:t>
            </a:r>
            <a:br>
              <a:rPr lang="he-IL" sz="1400" dirty="0"/>
            </a:br>
            <a:r>
              <a:rPr lang="he-IL" sz="1400" dirty="0">
                <a:cs typeface="Arial"/>
              </a:rPr>
              <a:t>אבל שם בדיוק ישב ההעתק שחיפשנו — במרחק 2 בלבד.</a:t>
            </a:r>
          </a:p>
          <a:p>
            <a:pPr algn="r" rtl="1"/>
            <a:r>
              <a:rPr lang="he-IL" sz="1400" dirty="0">
                <a:cs typeface="Arial"/>
              </a:rPr>
              <a:t>שום דבר לא קורס. שום שגיאה לא מופיעה.</a:t>
            </a:r>
            <a:br>
              <a:rPr lang="he-IL" sz="1400" dirty="0"/>
            </a:br>
            <a:r>
              <a:rPr lang="he-IL" sz="1400" dirty="0">
                <a:cs typeface="Arial"/>
              </a:rPr>
              <a:t>המערכת פשוט מפספסת העתקים בשקט — והעתק שמפוספס זו בדיוק הטעות שאנחנו לא יכולים להרשות לעצמנו.</a:t>
            </a:r>
          </a:p>
          <a:p>
            <a:pPr algn="r" rtl="1"/>
            <a:endParaRPr lang="he-IL" sz="1400" dirty="0"/>
          </a:p>
          <a:p>
            <a:pPr algn="r" rtl="1"/>
            <a:r>
              <a:rPr lang="he-IL" sz="1400" dirty="0">
                <a:cs typeface="Arial"/>
              </a:rPr>
              <a:t>מעבר: „אז הפסקנו לנסות להאיץ אותו — והחלפנו אותו.”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he-IL" sz="1400" dirty="0">
                <a:cs typeface="Arial"/>
              </a:rPr>
              <a:t>אז החלפנו את sHash ב־ORB.</a:t>
            </a:r>
            <a:br>
              <a:rPr lang="he-IL" sz="1400" dirty="0"/>
            </a:br>
            <a:r>
              <a:rPr lang="he-IL" sz="1400" dirty="0">
                <a:cs typeface="Arial"/>
              </a:rPr>
              <a:t>במקום לדחוס את התמונה לטביעת אצבע אחת, ORB מתאים נקודות ציון אמיתיות בין שתי התמונות.</a:t>
            </a:r>
            <a:br>
              <a:rPr lang="he-IL" sz="1400" dirty="0"/>
            </a:br>
            <a:r>
              <a:rPr lang="he-IL" sz="1400" dirty="0">
                <a:cs typeface="Arial"/>
              </a:rPr>
              <a:t>שתי סיבות: הוא עושה את העבודה של sHash — חיתוכים וסיבובים — כמו שצריך,</a:t>
            </a:r>
            <a:br>
              <a:rPr lang="he-IL" sz="1400" dirty="0"/>
            </a:br>
            <a:r>
              <a:rPr lang="he-IL" sz="1400" dirty="0">
                <a:cs typeface="Arial"/>
              </a:rPr>
              <a:t>ובניגוד ל־sHash, אפשר לשמור את הנתונים שלו באינדקס שבאמת עובד — אחמד יראה איך בשקופיות הבאות.</a:t>
            </a:r>
          </a:p>
          <a:p>
            <a:pPr algn="r" rtl="1"/>
            <a:r>
              <a:rPr lang="he-IL" sz="1400" dirty="0">
                <a:cs typeface="Arial"/>
              </a:rPr>
              <a:t>ועכשיו החלק הכן, לפני כל תוצאה.</a:t>
            </a:r>
            <a:br>
              <a:rPr lang="he-IL" sz="1400" dirty="0"/>
            </a:br>
            <a:r>
              <a:rPr lang="he-IL" sz="1400" dirty="0">
                <a:cs typeface="Arial"/>
              </a:rPr>
              <a:t>כל הרעיון של המאמר הוא לשמור את טביעות האצבע בתוך טרנזקציית ה־mint עצמה, על הבלוקצ׳יין.</a:t>
            </a:r>
            <a:br>
              <a:rPr lang="he-IL" sz="1400" dirty="0"/>
            </a:br>
            <a:r>
              <a:rPr lang="he-IL" sz="1400" dirty="0">
                <a:cs typeface="Arial"/>
              </a:rPr>
              <a:t>טרנזקציה כזו, לפי המאמר, היא בערך 300 עד 500 בתים.</a:t>
            </a:r>
            <a:br>
              <a:rPr lang="he-IL" sz="1400" dirty="0"/>
            </a:br>
            <a:r>
              <a:rPr lang="he-IL" sz="1400" dirty="0">
                <a:cs typeface="Arial"/>
              </a:rPr>
              <a:t>ארבע טביעות האצבע ביחד הן בערך 56 בתים — נכנסות בקלות.</a:t>
            </a:r>
          </a:p>
          <a:p>
            <a:pPr algn="r" rtl="1"/>
            <a:r>
              <a:rPr lang="he-IL" sz="1400" dirty="0">
                <a:cs typeface="Arial"/>
              </a:rPr>
              <a:t>[להצביע על הגרף] הפס האפור הוא טרנזקציה שלמה אחת. sHash — היהלום הכתום — משמאל לו; כל העקומה הכחולה של ORB מימינו.</a:t>
            </a:r>
            <a:br>
              <a:rPr lang="he-IL" sz="1400" dirty="0"/>
            </a:br>
            <a:r>
              <a:rPr lang="he-IL" sz="1400" dirty="0">
                <a:cs typeface="Arial"/>
              </a:rPr>
              <a:t>ב־ORB, כל נקודת ציון מתוארת ב־32 בתים, ולתמונה יש בערך 455 נקודות.</a:t>
            </a:r>
            <a:br>
              <a:rPr lang="he-IL" sz="1400" dirty="0"/>
            </a:br>
            <a:r>
              <a:rPr lang="he-IL" sz="1400" dirty="0">
                <a:cs typeface="Arial"/>
              </a:rPr>
              <a:t>זה כ־14,500 בתים — כמו 36 טרנזקציות שלמות.</a:t>
            </a:r>
            <a:br>
              <a:rPr lang="he-IL" sz="1400" dirty="0"/>
            </a:br>
            <a:r>
              <a:rPr lang="he-IL" sz="1400" dirty="0">
                <a:cs typeface="Arial"/>
              </a:rPr>
              <a:t>ניסינו לכווץ אותו:</a:t>
            </a:r>
            <a:br>
              <a:rPr lang="he-IL" sz="1400" dirty="0"/>
            </a:br>
            <a:r>
              <a:rPr lang="he-IL" sz="1400" dirty="0">
                <a:cs typeface="Arial"/>
              </a:rPr>
              <a:t>עם 128 נקודות זה כ־3,900 בתים — עדיין כמו 10 טרנזקציות — וה־F1 יורד רק מכ־91 ל־87.5.</a:t>
            </a:r>
            <a:br>
              <a:rPr lang="he-IL" sz="1400" dirty="0"/>
            </a:br>
            <a:r>
              <a:rPr lang="he-IL" sz="1400" dirty="0">
                <a:cs typeface="Arial"/>
              </a:rPr>
              <a:t>עם 32 נקודות זה כ־1,000 בתים — בערך שתיים וחצי טרנזקציות — אבל ה־F1 יורד ל־76, בדיוק כמו sHash, שתופס רק 32 בתים.</a:t>
            </a:r>
            <a:br>
              <a:rPr lang="he-IL" sz="1400" dirty="0"/>
            </a:br>
            <a:r>
              <a:rPr lang="he-IL" sz="1400" dirty="0">
                <a:cs typeface="Arial"/>
              </a:rPr>
              <a:t>כלומר, אין גודל שבו ORB גם נכנס לטרנזקציה וגם טוב יותר מ־sHash.</a:t>
            </a:r>
            <a:br>
              <a:rPr lang="he-IL" sz="1400" dirty="0"/>
            </a:br>
            <a:r>
              <a:rPr lang="he-IL" sz="1400" dirty="0">
                <a:cs typeface="Arial"/>
              </a:rPr>
              <a:t>זו מגבלה אמיתית של מה שבנינו, ואנחנו מציגים אותה כממצא.</a:t>
            </a:r>
          </a:p>
          <a:p>
            <a:pPr algn="r" rtl="1"/>
            <a:endParaRPr lang="he-IL" sz="1400" dirty="0"/>
          </a:p>
          <a:p>
            <a:pPr algn="r" rtl="1"/>
            <a:r>
              <a:rPr lang="he-IL" sz="1400" dirty="0">
                <a:cs typeface="Arial"/>
              </a:rPr>
              <a:t>מעבר: „זה המחיר במקום. ומה לגבי זמן?”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7991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he-IL" sz="1400" dirty="0">
                <a:cs typeface="Arial"/>
              </a:rPr>
              <a:t>כדי לבדוק משהו מכל זה, צריך העתקים מתויגים.</a:t>
            </a:r>
            <a:br>
              <a:rPr lang="he-IL" sz="1400" dirty="0"/>
            </a:br>
            <a:r>
              <a:rPr lang="he-IL" sz="1400" dirty="0">
                <a:cs typeface="Arial"/>
              </a:rPr>
              <a:t>הדאטה של המאמר לא ציבורי, אז בנינו משלנו: שלושת אלפים NFTים אמיתיים — Azuki, Bored Apes ו־CryptoPunks.</a:t>
            </a:r>
            <a:br>
              <a:rPr lang="he-IL" sz="1400" dirty="0"/>
            </a:br>
            <a:r>
              <a:rPr lang="he-IL" sz="1400" dirty="0">
                <a:cs typeface="Arial"/>
              </a:rPr>
              <a:t>הם מגיעים בלי תיוג, אז ייצרנו את ההעתקים בעצמנו, לפי ששת סוגי העריכה של המאמר, שלוש וריאציות אקראיות לכל אחד, ועוד העתקים מדויקים וזוגות שלא מתאימים.</a:t>
            </a:r>
          </a:p>
          <a:p>
            <a:pPr algn="r" rtl="1"/>
            <a:r>
              <a:rPr lang="he-IL" sz="1400" dirty="0">
                <a:cs typeface="Arial"/>
              </a:rPr>
              <a:t>חילקנו לפי תמונת מקור לפני העריכה, כך שלאף תמונה אין העתקים בשני הצדדים — כל מה שבסט הבדיקה חדש.</a:t>
            </a:r>
            <a:br>
              <a:rPr lang="he-IL" sz="1400" dirty="0"/>
            </a:br>
            <a:r>
              <a:rPr lang="he-IL" sz="1400" dirty="0">
                <a:cs typeface="Arial"/>
              </a:rPr>
              <a:t>זה נותן 11,400 העתקים אמיתיים ו־2,400 לא־העתקים.</a:t>
            </a:r>
          </a:p>
          <a:p>
            <a:pPr algn="r" rtl="1"/>
            <a:r>
              <a:rPr lang="he-IL" sz="1400" dirty="0">
                <a:cs typeface="Arial"/>
              </a:rPr>
              <a:t>וזה היתרון שהזכרנו בהתחלה: נתנו ל־sHash לבחור את הסף שלו כשהוא מסתכל על התשובות של סט הבדיקה — משהו שאי אפשר לעשות במציאות.</a:t>
            </a:r>
            <a:br>
              <a:rPr lang="he-IL" sz="1400" dirty="0"/>
            </a:br>
            <a:r>
              <a:rPr lang="he-IL" sz="1400" dirty="0">
                <a:cs typeface="Arial"/>
              </a:rPr>
              <a:t>הסף של ORB נבחר רק על נתוני האימון.</a:t>
            </a:r>
            <a:br>
              <a:rPr lang="he-IL" sz="1400" dirty="0"/>
            </a:br>
            <a:r>
              <a:rPr lang="he-IL" sz="1400" dirty="0">
                <a:cs typeface="Arial"/>
              </a:rPr>
              <a:t>אז כל השוואה שתבוא מוטה נגדנו.</a:t>
            </a:r>
          </a:p>
          <a:p>
            <a:pPr algn="r" rtl="1"/>
            <a:endParaRPr lang="he-IL" sz="1400" dirty="0"/>
          </a:p>
          <a:p>
            <a:pPr algn="r" rtl="1"/>
            <a:r>
              <a:rPr lang="he-IL" sz="1400" dirty="0">
                <a:cs typeface="Arial"/>
              </a:rPr>
              <a:t>מעבר: „עם היתרון הזה במקום, הנה ההשוואה ראש בראש.”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he-IL" sz="1400" dirty="0">
                <a:cs typeface="Arial"/>
              </a:rPr>
              <a:t>זה המספר מההתחלה.</a:t>
            </a:r>
            <a:br>
              <a:rPr lang="he-IL" sz="1400" dirty="0"/>
            </a:br>
            <a:r>
              <a:rPr lang="he-IL" sz="1400" dirty="0">
                <a:cs typeface="Arial"/>
              </a:rPr>
              <a:t>על העריכות ש־sHash נבנה בשבילן, ORB מקבל 90.6 מול 76.4 — ו־sHash הוא זה שקיבל את היתרון.</a:t>
            </a:r>
          </a:p>
          <a:p>
            <a:pPr algn="r" rtl="1"/>
            <a:r>
              <a:rPr lang="he-IL" sz="1400" dirty="0">
                <a:cs typeface="Arial"/>
              </a:rPr>
              <a:t>מישהו ישים לב שעמודת ה־recall נראית כמו תיקו: 89.8 מול 90.0.</a:t>
            </a:r>
            <a:br>
              <a:rPr lang="he-IL" sz="1400" dirty="0"/>
            </a:br>
            <a:r>
              <a:rPr lang="he-IL" sz="1400" dirty="0">
                <a:cs typeface="Arial"/>
              </a:rPr>
              <a:t>אבל תסתכלו את מי כל אחד מאשים.</a:t>
            </a:r>
            <a:br>
              <a:rPr lang="he-IL" sz="1400" dirty="0"/>
            </a:br>
            <a:r>
              <a:rPr lang="he-IL" sz="1400" dirty="0">
                <a:cs typeface="Arial"/>
              </a:rPr>
              <a:t>בסט הבדיקה יש 2,400 תמונות תמימות.</a:t>
            </a:r>
            <a:br>
              <a:rPr lang="he-IL" sz="1400" dirty="0"/>
            </a:br>
            <a:r>
              <a:rPr lang="he-IL" sz="1400" dirty="0">
                <a:cs typeface="Arial"/>
              </a:rPr>
              <a:t>sHash מאשים 1,630 מהן.</a:t>
            </a:r>
            <a:br>
              <a:rPr lang="he-IL" sz="1400" dirty="0"/>
            </a:br>
            <a:r>
              <a:rPr lang="he-IL" sz="1400" dirty="0">
                <a:cs typeface="Arial"/>
              </a:rPr>
              <a:t>ORB מאשים בערך 300.</a:t>
            </a:r>
            <a:br>
              <a:rPr lang="he-IL" sz="1400" dirty="0"/>
            </a:br>
            <a:r>
              <a:rPr lang="he-IL" sz="1400" dirty="0">
                <a:cs typeface="Arial"/>
              </a:rPr>
              <a:t>ככה sHash שומר על ה־recall שלו — הוא אומר ‚העתק’ כמעט לכל דבר.</a:t>
            </a:r>
          </a:p>
          <a:p>
            <a:pPr algn="r" rtl="1"/>
            <a:r>
              <a:rPr lang="he-IL" sz="1400" dirty="0">
                <a:cs typeface="Arial"/>
              </a:rPr>
              <a:t>תעמידו את שניהם על אותו precision, ו־sHash תופס 27% מההעתקים, בזמן ש־ORB תופס 90%.</a:t>
            </a:r>
            <a:br>
              <a:rPr lang="he-IL" sz="1400" dirty="0"/>
            </a:br>
            <a:r>
              <a:rPr lang="he-IL" sz="1400" dirty="0">
                <a:cs typeface="Arial"/>
              </a:rPr>
              <a:t>זה לא תיקו.</a:t>
            </a:r>
            <a:br>
              <a:rPr lang="he-IL" sz="1400" dirty="0"/>
            </a:br>
            <a:r>
              <a:rPr lang="he-IL" sz="1400" dirty="0">
                <a:cs typeface="Arial"/>
              </a:rPr>
              <a:t>זה פער פי שלושה.</a:t>
            </a:r>
          </a:p>
          <a:p>
            <a:pPr algn="r" rtl="1"/>
            <a:endParaRPr lang="he-IL" sz="1400" dirty="0"/>
          </a:p>
          <a:p>
            <a:pPr algn="r" rtl="1"/>
            <a:r>
              <a:rPr lang="he-IL" sz="1400" dirty="0">
                <a:cs typeface="Arial"/>
              </a:rPr>
              <a:t>מעבר: „ומתברר שהוא טוב יותר ממה שציפינו — לא רק בחיתוך.”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he-IL" sz="1400" dirty="0">
                <a:cs typeface="Arial"/>
              </a:rPr>
              <a:t>אלה ה־recall של ORB לפי סוג העריכה — כמה מההעתקים מכל סוג הוא תופס.</a:t>
            </a:r>
            <a:br>
              <a:rPr lang="he-IL" sz="1400" dirty="0"/>
            </a:br>
            <a:r>
              <a:rPr lang="he-IL" sz="1400" dirty="0">
                <a:cs typeface="Arial"/>
              </a:rPr>
              <a:t>הבאנו אותו בשביל חיתוך, והוא תופס 98% מהם.</a:t>
            </a:r>
            <a:br>
              <a:rPr lang="he-IL" sz="1400" dirty="0"/>
            </a:br>
            <a:r>
              <a:rPr lang="he-IL" sz="1400" dirty="0">
                <a:cs typeface="Arial"/>
              </a:rPr>
              <a:t>אבל הוא גם תופס 99% מהרקעים שנצבעו מחדש, וכל לוגו שהודבק — 100% — וזה משהו שלא ציפינו לו.</a:t>
            </a:r>
            <a:br>
              <a:rPr lang="he-IL" sz="1400" dirty="0"/>
            </a:br>
            <a:r>
              <a:rPr lang="he-IL" sz="1400" dirty="0">
                <a:cs typeface="Arial"/>
              </a:rPr>
              <a:t>אף אחת מהעריכות האלה לא פוגעת בצורות ש־ORB מחפש.</a:t>
            </a:r>
          </a:p>
          <a:p>
            <a:pPr algn="r" rtl="1"/>
            <a:r>
              <a:rPr lang="he-IL" sz="1400" dirty="0">
                <a:cs typeface="Arial"/>
              </a:rPr>
              <a:t>הוא נכשל במקום אחד בלבד: פיקסליזציה, 28%.</a:t>
            </a:r>
            <a:br>
              <a:rPr lang="he-IL" sz="1400" dirty="0"/>
            </a:br>
            <a:r>
              <a:rPr lang="he-IL" sz="1400" dirty="0">
                <a:cs typeface="Arial"/>
              </a:rPr>
              <a:t>פיקסליזציה הורסת את הפרטים העדינים שמהם בנויות פינות, אז לא נשאר מה למצוא.</a:t>
            </a:r>
            <a:br>
              <a:rPr lang="he-IL" sz="1400" dirty="0"/>
            </a:br>
            <a:r>
              <a:rPr lang="he-IL" sz="1400" dirty="0">
                <a:cs typeface="Arial"/>
              </a:rPr>
              <a:t>כישלון אחד נקי שאנחנו יודעים להסביר זה מקום טוב להיות בו — ושלוש טביעות האצבע האחרות עדיין מכסות את המקרה הזה.</a:t>
            </a:r>
          </a:p>
          <a:p>
            <a:pPr algn="r" rtl="1"/>
            <a:endParaRPr lang="he-IL" sz="1400" dirty="0"/>
          </a:p>
          <a:p>
            <a:pPr algn="r" rtl="1"/>
            <a:r>
              <a:rPr lang="he-IL" sz="1400" dirty="0">
                <a:cs typeface="Arial"/>
              </a:rPr>
              <a:t>מעבר: „ובמערכת המלאה?”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he-IL" sz="1400" dirty="0">
                <a:cs typeface="Arial"/>
              </a:rPr>
              <a:t>מקצה לקצה.</a:t>
            </a:r>
            <a:br>
              <a:rPr lang="he-IL" sz="1400" dirty="0"/>
            </a:br>
            <a:r>
              <a:rPr lang="he-IL" sz="1400" dirty="0">
                <a:cs typeface="Arial"/>
              </a:rPr>
              <a:t>לוקחים את הגלאי שלהם בדיוק כמו שהוא מוגדר במאמר — הספים שלהם, קפואים, בלי שום כיול מחדש — ומחליפים סיגנל אחד.</a:t>
            </a:r>
            <a:br>
              <a:rPr lang="he-IL" sz="1400" dirty="0"/>
            </a:br>
            <a:r>
              <a:rPr lang="he-IL" sz="1400" dirty="0">
                <a:cs typeface="Arial"/>
              </a:rPr>
              <a:t>הוא עולה מ־77.5 ל־86.4.</a:t>
            </a:r>
            <a:br>
              <a:rPr lang="he-IL" sz="1400" dirty="0"/>
            </a:br>
            <a:r>
              <a:rPr lang="he-IL" sz="1400" dirty="0">
                <a:cs typeface="Arial"/>
              </a:rPr>
              <a:t>זה +8.9.</a:t>
            </a:r>
            <a:br>
              <a:rPr lang="he-IL" sz="1400" dirty="0"/>
            </a:br>
            <a:r>
              <a:rPr lang="he-IL" sz="1400" dirty="0">
                <a:cs typeface="Arial"/>
              </a:rPr>
              <a:t>אם במקום זה מכיילים את הספים שלהם לדאטה שלנו — מה שעוזר להם, לא לנו — זה 81.7 מול 87.5.</a:t>
            </a:r>
            <a:br>
              <a:rPr lang="he-IL" sz="1400" dirty="0"/>
            </a:br>
            <a:r>
              <a:rPr lang="he-IL" sz="1400" dirty="0">
                <a:cs typeface="Arial"/>
              </a:rPr>
              <a:t>מנצח בכל מקרה.</a:t>
            </a:r>
          </a:p>
          <a:p>
            <a:pPr algn="r" rtl="1"/>
            <a:r>
              <a:rPr lang="he-IL" sz="1400" dirty="0">
                <a:cs typeface="Arial"/>
              </a:rPr>
              <a:t>הסתייגות אחת שאנחנו אומרים בקול: סט הבדיקה שלנו הוא ברובו העתקים, אז גלאי שפשוט אומר ‚כן’ לכל דבר כבר מקבל F1 גבוה.</a:t>
            </a:r>
            <a:br>
              <a:rPr lang="he-IL" sz="1400" dirty="0"/>
            </a:br>
            <a:r>
              <a:rPr lang="he-IL" sz="1400" dirty="0">
                <a:cs typeface="Arial"/>
              </a:rPr>
              <a:t>לכן ההשוואה ההוגנת היא כמה העתקים כל אחד תופס כשהם אמינים באותה מידה כשהם מאשימים — שניהם צודקים 98% מהפעמים — ושם זה עולה מ־64% ל־77%.</a:t>
            </a:r>
          </a:p>
          <a:p>
            <a:pPr algn="r" rtl="1"/>
            <a:endParaRPr lang="he-IL" sz="1400" dirty="0"/>
          </a:p>
          <a:p>
            <a:pPr algn="r" rtl="1"/>
            <a:r>
              <a:rPr lang="he-IL" sz="1400" dirty="0">
                <a:cs typeface="Arial"/>
              </a:rPr>
              <a:t>מעבר: „אז מה לקחנו מכל זה?”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he-IL" sz="1400" dirty="0">
                <a:cs typeface="Arial"/>
              </a:rPr>
              <a:t>שלושה דברים.</a:t>
            </a:r>
            <a:br>
              <a:rPr lang="he-IL" sz="1400" dirty="0"/>
            </a:br>
            <a:r>
              <a:rPr lang="he-IL" sz="1400" dirty="0">
                <a:cs typeface="Arial"/>
              </a:rPr>
              <a:t>ראשון — לבדוק את המתמטיקה לפני שמאיצים.</a:t>
            </a:r>
            <a:br>
              <a:rPr lang="he-IL" sz="1400" dirty="0"/>
            </a:br>
            <a:r>
              <a:rPr lang="he-IL" sz="1400" dirty="0">
                <a:cs typeface="Arial"/>
              </a:rPr>
              <a:t>יצאנו להפוך חיפוש למהיר יותר, וגילינו שהחיפוש עצמו לא תקין.</a:t>
            </a:r>
            <a:br>
              <a:rPr lang="he-IL" sz="1400" dirty="0"/>
            </a:br>
            <a:r>
              <a:rPr lang="he-IL" sz="1400" dirty="0">
                <a:cs typeface="Arial"/>
              </a:rPr>
              <a:t>מהירות לא שווה כלום עד שהכלי נכון.</a:t>
            </a:r>
          </a:p>
          <a:p>
            <a:pPr algn="r" rtl="1"/>
            <a:r>
              <a:rPr lang="he-IL" sz="1400" dirty="0">
                <a:cs typeface="Arial"/>
              </a:rPr>
              <a:t>שני — הדרך שבה שומרים סיגנל קובעת איך אפשר לחפש בו.</a:t>
            </a:r>
            <a:br>
              <a:rPr lang="he-IL" sz="1400" dirty="0"/>
            </a:br>
            <a:r>
              <a:rPr lang="he-IL" sz="1400" dirty="0">
                <a:cs typeface="Arial"/>
              </a:rPr>
              <a:t>טביעת אצבע אחת מתאימה לעץ; קבוצת נקודות ציון צריכה אינדקס אחר לגמרי.</a:t>
            </a:r>
            <a:br>
              <a:rPr lang="he-IL" sz="1400" dirty="0"/>
            </a:br>
            <a:r>
              <a:rPr lang="he-IL" sz="1400" dirty="0">
                <a:cs typeface="Arial"/>
              </a:rPr>
              <a:t>אי אפשר לבחור את הסיגנל ואת האחסון בנפרד — וזה מה שה־14 וחצי קילובייט באמת אומרים לנו.</a:t>
            </a:r>
          </a:p>
          <a:p>
            <a:pPr algn="r" rtl="1"/>
            <a:r>
              <a:rPr lang="he-IL" sz="1400" dirty="0">
                <a:cs typeface="Arial"/>
              </a:rPr>
              <a:t>שלישי — תוצאה שלילית היא עדיין תוצאה.</a:t>
            </a:r>
            <a:br>
              <a:rPr lang="he-IL" sz="1400" dirty="0"/>
            </a:br>
            <a:r>
              <a:rPr lang="he-IL" sz="1400" dirty="0">
                <a:cs typeface="Arial"/>
              </a:rPr>
              <a:t>בנינו את ה־edit classifier, מדדנו אותו, והוא לא שיפר את הדיוק — כי טביעת אצבע שבורה כאן פשוט שותקת במקום להצביע לא נכון, אז להשתיק אותה לא משנה כלום.</a:t>
            </a:r>
            <a:br>
              <a:rPr lang="he-IL" sz="1400" dirty="0"/>
            </a:br>
            <a:r>
              <a:rPr lang="he-IL" sz="1400" dirty="0">
                <a:cs typeface="Arial"/>
              </a:rPr>
              <a:t>נשמח להרחיב על זה.</a:t>
            </a:r>
          </a:p>
          <a:p>
            <a:pPr algn="r" rtl="1"/>
            <a:endParaRPr lang="he-IL" sz="1400" dirty="0"/>
          </a:p>
          <a:p>
            <a:pPr algn="r" rtl="1"/>
            <a:r>
              <a:rPr lang="he-IL" sz="1400" dirty="0">
                <a:cs typeface="Arial"/>
              </a:rPr>
              <a:t>מעבר: „לסיכום.” (שקופית 20 מוסתרת — ישר לשקופית 21)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he-IL" sz="1400" dirty="0">
                <a:cs typeface="Arial"/>
              </a:rPr>
              <a:t>אז, לסיכום — מה הראינו.</a:t>
            </a:r>
          </a:p>
          <a:p>
            <a:pPr algn="r" rtl="1"/>
            <a:r>
              <a:rPr lang="he-IL" sz="1400" dirty="0">
                <a:cs typeface="Arial"/>
              </a:rPr>
              <a:t>המאמר: ארבע טביעות אצבע מצביעות, וכששתיים מסכימות — זה העתק.</a:t>
            </a:r>
          </a:p>
          <a:p>
            <a:pPr algn="r" rtl="1"/>
            <a:r>
              <a:rPr lang="he-IL" sz="1400" dirty="0">
                <a:cs typeface="Arial"/>
              </a:rPr>
              <a:t>המטרה שלנו: להפוך את זה למהיר יותר.</a:t>
            </a:r>
          </a:p>
          <a:p>
            <a:pPr algn="r" rtl="1"/>
            <a:r>
              <a:rPr lang="he-IL" sz="1400" dirty="0">
                <a:cs typeface="Arial"/>
              </a:rPr>
              <a:t>מה מצאנו: אחת מהארבע, sHash, אי אפשר לחפש בה נכון — וכשהיא נכשלת, היא מפספסת העתקים אמיתיים בשקט.</a:t>
            </a:r>
          </a:p>
          <a:p>
            <a:pPr algn="r" rtl="1"/>
            <a:r>
              <a:rPr lang="he-IL" sz="1400" dirty="0">
                <a:cs typeface="Arial"/>
              </a:rPr>
              <a:t>מה עשינו: החלפנו אותה בהתאמת features — נקודות ציון, RANSAC כדי לשמור רק את ההתאמות שמסכימות, ואינדקס כדי שזה יגדל.</a:t>
            </a:r>
          </a:p>
          <a:p>
            <a:pPr algn="r" rtl="1"/>
            <a:r>
              <a:rPr lang="he-IL" sz="1400" dirty="0">
                <a:cs typeface="Arial"/>
              </a:rPr>
              <a:t>התוצאה: ארבע־עשרה נקודות יותר טוב בעבודה ש־sHash נבנה בשבילה, כמעט תשע נקודות יותר טוב בגלאי המלא כמו שהמאמר מגדיר אותו — אבל גדול מדי בשביל לשמור על הבלוקצ׳יין, ואיטי להשוואה — כ־34 מילישניות לזוג, מול עשירית מיקרו־שנייה ל־sHash.</a:t>
            </a:r>
          </a:p>
          <a:p>
            <a:pPr algn="r" rtl="1"/>
            <a:r>
              <a:rPr lang="he-IL" sz="1400" dirty="0">
                <a:cs typeface="Arial"/>
              </a:rPr>
              <a:t>[הפסקה] סיגנל אחד הוחלף, נמדד ביושר, והמחיר שלו נאמר.</a:t>
            </a:r>
            <a:br>
              <a:rPr lang="he-IL" sz="1400" dirty="0"/>
            </a:br>
            <a:r>
              <a:rPr lang="he-IL" sz="1400" dirty="0">
                <a:cs typeface="Arial"/>
              </a:rPr>
              <a:t>זה הפרויקט.</a:t>
            </a:r>
          </a:p>
          <a:p>
            <a:pPr algn="r" rtl="1"/>
            <a:r>
              <a:rPr lang="he-IL" sz="1400" dirty="0">
                <a:cs typeface="Arial"/>
              </a:rPr>
              <a:t>תודה — נשמח לשאלות.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אותו דבר, רק בזמן. מדדנו את שתי הפעולות ששני הסיגנלים עושים.</a:t>
            </a:r>
          </a:p>
          <a:p>
            <a:r>
              <a:t>הראשונה — ליצור טביעת אצבע לתמונה חדשה: ORB מוצא ומתאר נקודות ציון, ו־sHash מחלק את התמונה לאובייקטים העיקריים שלה ועושה hash לכל אחד. כאן הם בערך שווים — מילישנייה וחצי ל־sHash, פחות ממילישנייה ל־ORB.</a:t>
            </a:r>
          </a:p>
          <a:p>
            <a:r>
              <a:t>השנייה — להשוות שתי תמונות. כאן ההבדל. [להצביע על הגרף] ל־sHash זה בערך עשירית מיקרו־שנייה — כמה ספירות ביטים. ל־ORB זה בערך 34 מילישניות — התאמת נקודות ציון ו־RANSAC, ארבע פעמים, בגלל גרסאות המראה. וגם כשמכווצים ל־128 נקודות — הנקודה האופטימלית מהשקף הקודם — זה עדיין 24 מילישניות.</a:t>
            </a:r>
          </a:p>
          <a:p>
            <a:r>
              <a:t>לגבי הוגנות: השווינו קוד מקומפל מול קוד מקומפל — ה־C שלנו ל־sHash, שזהה ביט־בביט לספרייה, מול OpenCV. ספריית הפייתון שהמאמר השתמש בה, כמו שהיא, לוקחת 68 מילישניות ו־11 מיקרו־שניות — אבל היא מערבבת שפות, ולכן מדדנו גם את sHash ב־C.</a:t>
            </a:r>
          </a:p>
          <a:p>
            <a:r>
              <a:t>המסקנה: עם 34 מילישניות לזוג, ORB צריך אינדקס כמו LSH כדי לגדול — וזה בדיוק מה שאחמד יראה.</a:t>
            </a:r>
          </a:p>
          <a:p/>
          <a:p>
            <a:r>
              <a:t>מעבר: „הנה איך ORB עובד בפועל — שלושה שלבים.”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ltGray">
          <a:xfrm>
            <a:off x="1" y="3453437"/>
            <a:ext cx="11958615" cy="2213776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2150141" y="3453437"/>
            <a:ext cx="4103213" cy="22137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07185" y="3644945"/>
            <a:ext cx="10859906" cy="1830760"/>
          </a:xfrm>
        </p:spPr>
        <p:txBody>
          <a:bodyPr anchor="b">
            <a:noAutofit/>
          </a:bodyPr>
          <a:lstStyle>
            <a:lvl1pPr algn="r"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07185" y="5858720"/>
            <a:ext cx="10859906" cy="1490249"/>
          </a:xfrm>
        </p:spPr>
        <p:txBody>
          <a:bodyPr>
            <a:normAutofit/>
          </a:bodyPr>
          <a:lstStyle>
            <a:lvl1pPr marL="0" indent="0" algn="r">
              <a:buNone/>
              <a:defRPr sz="2667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2341667" y="3667116"/>
            <a:ext cx="1562670" cy="1808589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0319266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 bwMode="ltGray">
          <a:xfrm>
            <a:off x="0" y="812800"/>
            <a:ext cx="13918442" cy="1824264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4115816" y="812800"/>
            <a:ext cx="2137538" cy="182426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494383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ltGray">
          <a:xfrm>
            <a:off x="-3" y="3635023"/>
            <a:ext cx="13918442" cy="1824264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4115813" y="3635023"/>
            <a:ext cx="2137538" cy="182426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7185" y="3826527"/>
            <a:ext cx="12819732" cy="1454384"/>
          </a:xfrm>
        </p:spPr>
        <p:txBody>
          <a:bodyPr anchor="ctr">
            <a:normAutofit/>
          </a:bodyPr>
          <a:lstStyle>
            <a:lvl1pPr algn="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7185" y="5642895"/>
            <a:ext cx="12819732" cy="2272023"/>
          </a:xfrm>
        </p:spPr>
        <p:txBody>
          <a:bodyPr>
            <a:normAutofit/>
          </a:bodyPr>
          <a:lstStyle>
            <a:lvl1pPr marL="0" indent="0" algn="r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07338" y="3826528"/>
            <a:ext cx="1539018" cy="145438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549690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 bwMode="ltGray">
          <a:xfrm>
            <a:off x="0" y="812800"/>
            <a:ext cx="13918442" cy="1824264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4115816" y="812800"/>
            <a:ext cx="2137538" cy="182426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7182" y="3115831"/>
            <a:ext cx="6265089" cy="47990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59559" y="3115831"/>
            <a:ext cx="6267356" cy="47990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190101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 bwMode="ltGray">
          <a:xfrm>
            <a:off x="0" y="812800"/>
            <a:ext cx="13918442" cy="1824264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4115816" y="812800"/>
            <a:ext cx="2137538" cy="182426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7181" y="1004306"/>
            <a:ext cx="12819736" cy="14412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8585" y="3115831"/>
            <a:ext cx="5963685" cy="924180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07185" y="4040012"/>
            <a:ext cx="6265085" cy="38749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760964" y="3115831"/>
            <a:ext cx="5965953" cy="922768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59560" y="4040012"/>
            <a:ext cx="6267358" cy="38749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10/7/26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0782305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 bwMode="ltGray">
          <a:xfrm>
            <a:off x="0" y="812800"/>
            <a:ext cx="13918442" cy="1824264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4115816" y="812800"/>
            <a:ext cx="2137538" cy="182426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10/7/26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3216786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14115816" y="812800"/>
            <a:ext cx="2137538" cy="182426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10/7/26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1826877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 bwMode="ltGray">
          <a:xfrm>
            <a:off x="0" y="812800"/>
            <a:ext cx="13918442" cy="1824264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4115816" y="812800"/>
            <a:ext cx="2137538" cy="182426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7184" y="1004303"/>
            <a:ext cx="12819731" cy="1441253"/>
          </a:xfrm>
        </p:spPr>
        <p:txBody>
          <a:bodyPr anchor="ctr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48405" y="3115831"/>
            <a:ext cx="7478512" cy="47990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07185" y="3115830"/>
            <a:ext cx="5053931" cy="4799089"/>
          </a:xfrm>
        </p:spPr>
        <p:txBody>
          <a:bodyPr anchor="ctr"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254133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 bwMode="ltGray">
          <a:xfrm>
            <a:off x="0" y="812800"/>
            <a:ext cx="13918442" cy="1824264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4115816" y="812800"/>
            <a:ext cx="2137538" cy="182426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7187" y="1004304"/>
            <a:ext cx="12819728" cy="1441251"/>
          </a:xfrm>
        </p:spPr>
        <p:txBody>
          <a:bodyPr anchor="ctr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491745" y="3115832"/>
            <a:ext cx="7235172" cy="4799083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07186" y="3115831"/>
            <a:ext cx="5168846" cy="4799087"/>
          </a:xfrm>
        </p:spPr>
        <p:txBody>
          <a:bodyPr anchor="ctr"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410970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 bwMode="ltGray">
          <a:xfrm>
            <a:off x="0" y="6090651"/>
            <a:ext cx="13918442" cy="1824264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4115816" y="6090651"/>
            <a:ext cx="2137538" cy="182426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7185" y="6282155"/>
            <a:ext cx="12819731" cy="60406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07185" y="812797"/>
            <a:ext cx="12819731" cy="4786100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07181" y="6892778"/>
            <a:ext cx="12819735" cy="830628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307338" y="6281746"/>
            <a:ext cx="1539018" cy="145438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561094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 bwMode="ltGray">
          <a:xfrm>
            <a:off x="0" y="6090651"/>
            <a:ext cx="13918442" cy="1824264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4115816" y="6090651"/>
            <a:ext cx="2137538" cy="182426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7184" y="812796"/>
            <a:ext cx="12819730" cy="4790333"/>
          </a:xfrm>
        </p:spPr>
        <p:txBody>
          <a:bodyPr anchor="ctr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07185" y="6282154"/>
            <a:ext cx="12819731" cy="1454385"/>
          </a:xfrm>
        </p:spPr>
        <p:txBody>
          <a:bodyPr anchor="ctr"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307338" y="6282154"/>
            <a:ext cx="1539018" cy="145438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826052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 bwMode="ltGray">
          <a:xfrm>
            <a:off x="0" y="6090651"/>
            <a:ext cx="13918442" cy="1824264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4115816" y="6090651"/>
            <a:ext cx="2137538" cy="182426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3956" y="812798"/>
            <a:ext cx="11626305" cy="4048081"/>
          </a:xfrm>
        </p:spPr>
        <p:txBody>
          <a:bodyPr anchor="ctr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869901" y="4871172"/>
            <a:ext cx="10876501" cy="731957"/>
          </a:xfrm>
        </p:spPr>
        <p:txBody>
          <a:bodyPr anchor="t">
            <a:normAutofit/>
          </a:bodyPr>
          <a:lstStyle>
            <a:lvl1pPr marL="0" indent="0">
              <a:buNone/>
              <a:defRPr sz="1867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07185" y="6282154"/>
            <a:ext cx="12819731" cy="1454385"/>
          </a:xfrm>
        </p:spPr>
        <p:txBody>
          <a:bodyPr anchor="ctr">
            <a:normAutofit/>
          </a:bodyPr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307338" y="6279901"/>
            <a:ext cx="1539018" cy="145438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778172" y="997488"/>
            <a:ext cx="812879" cy="779701"/>
          </a:xfrm>
          <a:prstGeom prst="rect">
            <a:avLst/>
          </a:prstGeom>
        </p:spPr>
        <p:txBody>
          <a:bodyPr vert="horz" lIns="121920" tIns="60960" rIns="121920" bIns="6096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96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85004" y="4044699"/>
            <a:ext cx="812879" cy="779701"/>
          </a:xfrm>
          <a:prstGeom prst="rect">
            <a:avLst/>
          </a:prstGeom>
        </p:spPr>
        <p:txBody>
          <a:bodyPr vert="horz" lIns="121920" tIns="60960" rIns="121920" bIns="6096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96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84985741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 bwMode="ltGray">
          <a:xfrm>
            <a:off x="0" y="6090651"/>
            <a:ext cx="13918442" cy="1824264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4115816" y="6090651"/>
            <a:ext cx="2137538" cy="182426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7181" y="6282154"/>
            <a:ext cx="12819735" cy="784713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07182" y="7066866"/>
            <a:ext cx="12819735" cy="669673"/>
          </a:xfrm>
        </p:spPr>
        <p:txBody>
          <a:bodyPr anchor="t"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307338" y="6279901"/>
            <a:ext cx="1539018" cy="145438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5701871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 bwMode="ltGray">
          <a:xfrm>
            <a:off x="0" y="812800"/>
            <a:ext cx="13918442" cy="1824264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4115816" y="812800"/>
            <a:ext cx="2137538" cy="182426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92383" y="1004304"/>
            <a:ext cx="12834534" cy="14412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81347" y="3115831"/>
            <a:ext cx="4093779" cy="768349"/>
          </a:xfrm>
        </p:spPr>
        <p:txBody>
          <a:bodyPr anchor="b">
            <a:noAutofit/>
          </a:bodyPr>
          <a:lstStyle>
            <a:lvl1pPr marL="0" indent="0">
              <a:buNone/>
              <a:defRPr sz="3200" b="0">
                <a:solidFill>
                  <a:schemeClr val="tx1"/>
                </a:solidFill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07184" y="4030231"/>
            <a:ext cx="4066667" cy="3884684"/>
          </a:xfrm>
        </p:spPr>
        <p:txBody>
          <a:bodyPr anchor="t">
            <a:normAutofit/>
          </a:bodyPr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275215" y="3115831"/>
            <a:ext cx="4084719" cy="768349"/>
          </a:xfrm>
        </p:spPr>
        <p:txBody>
          <a:bodyPr anchor="b">
            <a:noAutofit/>
          </a:bodyPr>
          <a:lstStyle>
            <a:lvl1pPr marL="0" indent="0">
              <a:buNone/>
              <a:defRPr sz="3200" b="0">
                <a:solidFill>
                  <a:schemeClr val="tx1"/>
                </a:solidFill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5261141" y="4030231"/>
            <a:ext cx="4084719" cy="3884684"/>
          </a:xfrm>
        </p:spPr>
        <p:txBody>
          <a:bodyPr anchor="t">
            <a:normAutofit/>
          </a:bodyPr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9633149" y="3115831"/>
            <a:ext cx="4093767" cy="768349"/>
          </a:xfrm>
        </p:spPr>
        <p:txBody>
          <a:bodyPr anchor="b">
            <a:noAutofit/>
          </a:bodyPr>
          <a:lstStyle>
            <a:lvl1pPr marL="0" indent="0">
              <a:buNone/>
              <a:defRPr sz="3200" b="0">
                <a:solidFill>
                  <a:schemeClr val="tx1"/>
                </a:solidFill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9633149" y="4030231"/>
            <a:ext cx="4093767" cy="3884684"/>
          </a:xfrm>
        </p:spPr>
        <p:txBody>
          <a:bodyPr anchor="t">
            <a:normAutofit/>
          </a:bodyPr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10/7/26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1497112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 bwMode="ltGray">
          <a:xfrm>
            <a:off x="0" y="812800"/>
            <a:ext cx="13918442" cy="1824264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4115816" y="812800"/>
            <a:ext cx="2137538" cy="182426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07185" y="1004304"/>
            <a:ext cx="12819732" cy="14412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07180" y="5730004"/>
            <a:ext cx="4066671" cy="768349"/>
          </a:xfrm>
        </p:spPr>
        <p:txBody>
          <a:bodyPr anchor="b">
            <a:noAutofit/>
          </a:bodyPr>
          <a:lstStyle>
            <a:lvl1pPr marL="0" indent="0">
              <a:buNone/>
              <a:defRPr sz="3200" b="0">
                <a:solidFill>
                  <a:schemeClr val="tx1"/>
                </a:solidFill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07180" y="3115831"/>
            <a:ext cx="4066671" cy="2032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133"/>
            </a:lvl1pPr>
            <a:lvl2pPr marL="609585" indent="0">
              <a:buNone/>
              <a:defRPr sz="2133"/>
            </a:lvl2pPr>
            <a:lvl3pPr marL="1219170" indent="0">
              <a:buNone/>
              <a:defRPr sz="2133"/>
            </a:lvl3pPr>
            <a:lvl4pPr marL="1828754" indent="0">
              <a:buNone/>
              <a:defRPr sz="2133"/>
            </a:lvl4pPr>
            <a:lvl5pPr marL="2438339" indent="0">
              <a:buNone/>
              <a:defRPr sz="2133"/>
            </a:lvl5pPr>
            <a:lvl6pPr marL="3047924" indent="0">
              <a:buNone/>
              <a:defRPr sz="2133"/>
            </a:lvl6pPr>
            <a:lvl7pPr marL="3657509" indent="0">
              <a:buNone/>
              <a:defRPr sz="2133"/>
            </a:lvl7pPr>
            <a:lvl8pPr marL="4267093" indent="0">
              <a:buNone/>
              <a:defRPr sz="2133"/>
            </a:lvl8pPr>
            <a:lvl9pPr marL="4876678" indent="0">
              <a:buNone/>
              <a:defRPr sz="213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07180" y="6498353"/>
            <a:ext cx="4066671" cy="1416563"/>
          </a:xfrm>
        </p:spPr>
        <p:txBody>
          <a:bodyPr anchor="t">
            <a:normAutofit/>
          </a:bodyPr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261142" y="5730004"/>
            <a:ext cx="4084719" cy="768349"/>
          </a:xfrm>
        </p:spPr>
        <p:txBody>
          <a:bodyPr anchor="b">
            <a:noAutofit/>
          </a:bodyPr>
          <a:lstStyle>
            <a:lvl1pPr marL="0" indent="0">
              <a:buNone/>
              <a:defRPr sz="3200" b="0">
                <a:solidFill>
                  <a:schemeClr val="tx1"/>
                </a:solidFill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5261141" y="3115831"/>
            <a:ext cx="4084719" cy="2032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133"/>
            </a:lvl1pPr>
            <a:lvl2pPr marL="609585" indent="0">
              <a:buNone/>
              <a:defRPr sz="2133"/>
            </a:lvl2pPr>
            <a:lvl3pPr marL="1219170" indent="0">
              <a:buNone/>
              <a:defRPr sz="2133"/>
            </a:lvl3pPr>
            <a:lvl4pPr marL="1828754" indent="0">
              <a:buNone/>
              <a:defRPr sz="2133"/>
            </a:lvl4pPr>
            <a:lvl5pPr marL="2438339" indent="0">
              <a:buNone/>
              <a:defRPr sz="2133"/>
            </a:lvl5pPr>
            <a:lvl6pPr marL="3047924" indent="0">
              <a:buNone/>
              <a:defRPr sz="2133"/>
            </a:lvl6pPr>
            <a:lvl7pPr marL="3657509" indent="0">
              <a:buNone/>
              <a:defRPr sz="2133"/>
            </a:lvl7pPr>
            <a:lvl8pPr marL="4267093" indent="0">
              <a:buNone/>
              <a:defRPr sz="2133"/>
            </a:lvl8pPr>
            <a:lvl9pPr marL="4876678" indent="0">
              <a:buNone/>
              <a:defRPr sz="213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5259337" y="6498352"/>
            <a:ext cx="4090129" cy="1416563"/>
          </a:xfrm>
        </p:spPr>
        <p:txBody>
          <a:bodyPr anchor="t">
            <a:normAutofit/>
          </a:bodyPr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9641847" y="5730004"/>
            <a:ext cx="4085072" cy="768349"/>
          </a:xfrm>
        </p:spPr>
        <p:txBody>
          <a:bodyPr anchor="b">
            <a:noAutofit/>
          </a:bodyPr>
          <a:lstStyle>
            <a:lvl1pPr marL="0" indent="0">
              <a:buNone/>
              <a:defRPr sz="3200" b="0">
                <a:solidFill>
                  <a:schemeClr val="tx1"/>
                </a:solidFill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9641845" y="3115831"/>
            <a:ext cx="4085072" cy="2032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133"/>
            </a:lvl1pPr>
            <a:lvl2pPr marL="609585" indent="0">
              <a:buNone/>
              <a:defRPr sz="2133"/>
            </a:lvl2pPr>
            <a:lvl3pPr marL="1219170" indent="0">
              <a:buNone/>
              <a:defRPr sz="2133"/>
            </a:lvl3pPr>
            <a:lvl4pPr marL="1828754" indent="0">
              <a:buNone/>
              <a:defRPr sz="2133"/>
            </a:lvl4pPr>
            <a:lvl5pPr marL="2438339" indent="0">
              <a:buNone/>
              <a:defRPr sz="2133"/>
            </a:lvl5pPr>
            <a:lvl6pPr marL="3047924" indent="0">
              <a:buNone/>
              <a:defRPr sz="2133"/>
            </a:lvl6pPr>
            <a:lvl7pPr marL="3657509" indent="0">
              <a:buNone/>
              <a:defRPr sz="2133"/>
            </a:lvl7pPr>
            <a:lvl8pPr marL="4267093" indent="0">
              <a:buNone/>
              <a:defRPr sz="2133"/>
            </a:lvl8pPr>
            <a:lvl9pPr marL="4876678" indent="0">
              <a:buNone/>
              <a:defRPr sz="213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9641680" y="6498349"/>
            <a:ext cx="4090484" cy="1416563"/>
          </a:xfrm>
        </p:spPr>
        <p:txBody>
          <a:bodyPr anchor="t">
            <a:normAutofit/>
          </a:bodyPr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10/7/26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2116768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ltGray">
          <a:xfrm>
            <a:off x="0" y="812800"/>
            <a:ext cx="13918442" cy="1824264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4115816" y="812800"/>
            <a:ext cx="2137538" cy="182426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6740334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10822999" y="2492438"/>
            <a:ext cx="6809317" cy="182444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13158993" y="7163115"/>
            <a:ext cx="2137329" cy="182444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506961" y="812796"/>
            <a:ext cx="1431876" cy="580501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07185" y="812797"/>
            <a:ext cx="11827827" cy="710211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077055" y="7914917"/>
            <a:ext cx="3657957" cy="486833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10/7/26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07184" y="7914918"/>
            <a:ext cx="8169871" cy="48683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3464716" y="7198178"/>
            <a:ext cx="1539018" cy="1454385"/>
          </a:xfrm>
        </p:spPr>
        <p:txBody>
          <a:bodyPr anchor="t"/>
          <a:lstStyle>
            <a:lvl1pPr algn="ctr">
              <a:defRPr/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2179824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Pr>
        <a:solidFill>
          <a:srgbClr val="FAF5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418327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5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07184" y="1004304"/>
            <a:ext cx="12819734" cy="14412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7184" y="3115831"/>
            <a:ext cx="12819734" cy="47990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068958" y="7914917"/>
            <a:ext cx="3657957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10/6/26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07183" y="7914918"/>
            <a:ext cx="91617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4307338" y="1004304"/>
            <a:ext cx="1539018" cy="145438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228863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  <p:sldLayoutId id="2147483687" r:id="rId18"/>
  </p:sldLayoutIdLst>
  <p:hf sldNum="0" hdr="0" ftr="0" dt="0"/>
  <p:txStyles>
    <p:titleStyle>
      <a:lvl1pPr algn="l" defTabSz="1219170" rtl="1" eaLnBrk="1" latinLnBrk="0" hangingPunct="1">
        <a:lnSpc>
          <a:spcPct val="90000"/>
        </a:lnSpc>
        <a:spcBef>
          <a:spcPct val="0"/>
        </a:spcBef>
        <a:buNone/>
        <a:defRPr sz="4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r" defTabSz="1219170" rtl="1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r" defTabSz="1219170" rtl="1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r" defTabSz="1219170" rtl="1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r" defTabSz="1219170" rtl="1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r" defTabSz="1219170" rtl="1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r" defTabSz="1219170" rtl="1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r" defTabSz="1219170" rtl="1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r" defTabSz="1219170" rtl="1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r" defTabSz="1219170" rtl="1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1219170" rtl="1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r" defTabSz="1219170" rtl="1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r" defTabSz="1219170" rtl="1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r" defTabSz="1219170" rtl="1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r" defTabSz="1219170" rtl="1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r" defTabSz="1219170" rtl="1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r" defTabSz="1219170" rtl="1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r" defTabSz="1219170" rtl="1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r" defTabSz="1219170" rtl="1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.xml"/><Relationship Id="rId3" Type="http://schemas.openxmlformats.org/officeDocument/2006/relationships/audio" Target="../media/audio1.wav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9.xml"/><Relationship Id="rId20" Type="http://schemas.openxmlformats.org/officeDocument/2006/relationships/image" Target="../media/slide9_storage_chart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2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7.xml"/><Relationship Id="rId3" Type="http://schemas.openxmlformats.org/officeDocument/2006/relationships/chart" Target="../charts/char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5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4977872" y="85953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777240"/>
            <a:ext cx="147949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Detecting Copied NFT Images</a:t>
            </a:r>
            <a:endParaRPr lang="en-US" sz="5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828800"/>
            <a:ext cx="14794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Replacing a broken signal in an NFT copymint detector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176272" y="2871216"/>
            <a:ext cx="3310128" cy="3310128"/>
          </a:xfrm>
          <a:prstGeom prst="rect">
            <a:avLst/>
          </a:prstGeom>
          <a:solidFill>
            <a:srgbClr val="FFFFFF"/>
          </a:solidFill>
          <a:ln w="25400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6" name="Image 0" descr="/Users/rabeayassin/Developer/nft-dup-heuristic-router/data/example/generated/images/azuki_#8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1136" y="2926080"/>
            <a:ext cx="3200400" cy="32004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73936" y="623620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473952" y="2871216"/>
            <a:ext cx="3310128" cy="3310128"/>
          </a:xfrm>
          <a:prstGeom prst="rect">
            <a:avLst/>
          </a:prstGeom>
          <a:solidFill>
            <a:srgbClr val="FFFFFF"/>
          </a:solidFill>
          <a:ln w="25400">
            <a:solidFill>
              <a:srgbClr val="1A5FB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9" name="Image 1" descr="/Users/rabeayassin/Developer/nft-dup-heuristic-router/data/example/generated/images/azuki_#824__flip_rotate_mirror__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8816" y="2926080"/>
            <a:ext cx="3200400" cy="32004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071616" y="623620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rotated copy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10771632" y="2871216"/>
            <a:ext cx="3310128" cy="3310128"/>
          </a:xfrm>
          <a:prstGeom prst="rect">
            <a:avLst/>
          </a:prstGeom>
          <a:solidFill>
            <a:srgbClr val="FFFFFF"/>
          </a:solidFill>
          <a:ln w="25400">
            <a:solidFill>
              <a:srgbClr val="1A5FB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12" name="Image 2" descr="/Users/rabeayassin/Developer/nft-dup-heuristic-router/data/example/generated/images/azuki_#824__color_swap_modify_saturate__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26496" y="2926080"/>
            <a:ext cx="3200400" cy="32004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0369296" y="623620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recoloured copy</a:t>
            </a:r>
            <a:endParaRPr lang="en-US" sz="1600" dirty="0"/>
          </a:p>
        </p:txBody>
      </p:sp>
      <p:sp>
        <p:nvSpPr>
          <p:cNvPr id="14" name="Shape 9"/>
          <p:cNvSpPr/>
          <p:nvPr/>
        </p:nvSpPr>
        <p:spPr>
          <a:xfrm>
            <a:off x="5431536" y="4526280"/>
            <a:ext cx="1097280" cy="0"/>
          </a:xfrm>
          <a:prstGeom prst="line">
            <a:avLst/>
          </a:prstGeom>
          <a:noFill/>
          <a:ln w="25400">
            <a:solidFill>
              <a:srgbClr val="1A5FB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5" name="Shape 10"/>
          <p:cNvSpPr/>
          <p:nvPr/>
        </p:nvSpPr>
        <p:spPr>
          <a:xfrm>
            <a:off x="9729216" y="4526280"/>
            <a:ext cx="1097280" cy="0"/>
          </a:xfrm>
          <a:prstGeom prst="line">
            <a:avLst/>
          </a:prstGeom>
          <a:noFill/>
          <a:ln w="25400">
            <a:solidFill>
              <a:srgbClr val="1A5FB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6" name="Shape 11"/>
          <p:cNvSpPr/>
          <p:nvPr/>
        </p:nvSpPr>
        <p:spPr>
          <a:xfrm>
            <a:off x="731520" y="7726680"/>
            <a:ext cx="14794992" cy="0"/>
          </a:xfrm>
          <a:prstGeom prst="line">
            <a:avLst/>
          </a:prstGeom>
          <a:noFill/>
          <a:ln w="12700">
            <a:solidFill>
              <a:srgbClr val="9AA0A6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7" name="Text 12"/>
          <p:cNvSpPr txBox="1"/>
          <p:nvPr/>
        </p:nvSpPr>
        <p:spPr>
          <a:xfrm>
            <a:off x="731520" y="7863840"/>
            <a:ext cx="147949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Rabea Yassin  ·  Ahmad Nassar</a:t>
            </a:r>
            <a:endParaRPr lang="en-US" sz="2200" dirty="0"/>
          </a:p>
          <a:p>
            <a:pPr marL="0" indent="0">
              <a:buNone/>
            </a:pPr>
            <a:r>
              <a:rPr lang="en-US" sz="18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Instructor: Eran Tavor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5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4977872" y="85953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502920"/>
            <a:ext cx="147949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Result, Up Front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920240"/>
            <a:ext cx="6949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0" b="1" dirty="0">
                <a:solidFill>
                  <a:srgbClr val="1A5F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+14.2</a:t>
            </a:r>
            <a:endParaRPr lang="en-US" sz="13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29768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 points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512064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replaced one piece of an existing detector.</a:t>
            </a: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piece got 14 points better at what it was built for.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822960" y="6720840"/>
            <a:ext cx="6766560" cy="1280160"/>
          </a:xfrm>
          <a:prstGeom prst="rect">
            <a:avLst/>
          </a:prstGeom>
          <a:solidFill>
            <a:srgbClr val="FFFFFF"/>
          </a:solidFill>
          <a:ln w="15875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8" name="Text 6"/>
          <p:cNvSpPr txBox="1"/>
          <p:nvPr/>
        </p:nvSpPr>
        <p:spPr>
          <a:xfrm>
            <a:off x="1051560" y="6812280"/>
            <a:ext cx="6309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we gave the old piece an unfair advantage first.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8503920" y="26517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ORB — our replacement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8503920" y="3154680"/>
            <a:ext cx="4887834" cy="1005840"/>
          </a:xfrm>
          <a:prstGeom prst="rect">
            <a:avLst/>
          </a:prstGeom>
          <a:solidFill>
            <a:srgbClr val="1A5FB4"/>
          </a:solidFill>
          <a:ln w="12700">
            <a:solidFill>
              <a:srgbClr val="1A5FB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1" name="Text 9"/>
          <p:cNvSpPr txBox="1"/>
          <p:nvPr/>
        </p:nvSpPr>
        <p:spPr>
          <a:xfrm>
            <a:off x="13574634" y="320040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5F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90.6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8503920" y="45720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sHash — the paper's signal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8503920" y="5074920"/>
            <a:ext cx="4121749" cy="1005840"/>
          </a:xfrm>
          <a:prstGeom prst="rect">
            <a:avLst/>
          </a:prstGeom>
          <a:solidFill>
            <a:srgbClr val="9AA0A6"/>
          </a:solidFill>
          <a:ln w="12700">
            <a:solidFill>
              <a:srgbClr val="9AA0A6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4" name="Text 12"/>
          <p:cNvSpPr txBox="1"/>
          <p:nvPr/>
        </p:nvSpPr>
        <p:spPr>
          <a:xfrm>
            <a:off x="12808549" y="512064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76.4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8503920" y="65379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 score on the edits sHash was designed for</a:t>
            </a:r>
            <a:endParaRPr lang="en-US" sz="1500" dirty="0"/>
          </a:p>
        </p:txBody>
      </p:sp>
    </p:spTree>
  </p:cSld>
  <p:clrMapOvr>
    <a:masterClrMapping/>
  </p:clrMapOvr>
  <p:transition spd="med">
    <p:pull/>
    <p:sndAc>
      <p:stSnd>
        <p:snd r:embed="rId3" name="Woooow by 3ta.wav"/>
      </p:stSnd>
    </p:sndAc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5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4977872" y="85953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502920"/>
            <a:ext cx="147949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We'll Cover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14884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5F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1920240" y="2221992"/>
            <a:ext cx="135148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paper we started from</a:t>
            </a:r>
            <a:r>
              <a:rPr lang="en-US" sz="20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—   the problem, and their solution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319272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5F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3392424"/>
            <a:ext cx="135148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set out to build</a:t>
            </a:r>
            <a:r>
              <a:rPr lang="en-US" sz="20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—   a faster version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489704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5F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1920240" y="4562856"/>
            <a:ext cx="135148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found instead</a:t>
            </a:r>
            <a:r>
              <a:rPr lang="en-US" sz="20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—   one of their four signals is broken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5660136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5F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1920240" y="5733288"/>
            <a:ext cx="135148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replaced it with</a:t>
            </a:r>
            <a:r>
              <a:rPr lang="en-US" sz="20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—   and how it works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6830568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5F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1920240" y="6903720"/>
            <a:ext cx="135148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Results, lessons, what's next</a:t>
            </a:r>
            <a:endParaRPr lang="en-US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5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4977872" y="85953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502920"/>
            <a:ext cx="147949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Problem: Small Edits Defeat Exact Matching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325880"/>
            <a:ext cx="14794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copymint takes someone's artwork, edits it a little, and sells it as new.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85800" y="2148840"/>
            <a:ext cx="2468880" cy="2468880"/>
          </a:xfrm>
          <a:prstGeom prst="rect">
            <a:avLst/>
          </a:prstGeom>
          <a:solidFill>
            <a:srgbClr val="FFFFFF"/>
          </a:solidFill>
          <a:ln w="25400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6" name="Image 0" descr="/Users/rabeayassin/Developer/nft-dup-heuristic-router/data/example/generated/images/azuki_#8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194560"/>
            <a:ext cx="2377440" cy="23774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464515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original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85800" y="5257800"/>
            <a:ext cx="2468880" cy="2468880"/>
          </a:xfrm>
          <a:prstGeom prst="rect">
            <a:avLst/>
          </a:prstGeom>
          <a:solidFill>
            <a:srgbClr val="FFFFFF"/>
          </a:solidFill>
          <a:ln w="25400">
            <a:solidFill>
              <a:srgbClr val="1A5FB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9" name="Image 1" descr="/Users/rabeayassin/Developer/nft-dup-heuristic-router/data/example/generated/images/azuki_#824__color_swap_modify_saturate__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5303520"/>
            <a:ext cx="2377440" cy="237744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57200" y="775411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copy — colours changed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023360" y="2194560"/>
            <a:ext cx="11503152" cy="2286000"/>
          </a:xfrm>
          <a:prstGeom prst="rect">
            <a:avLst/>
          </a:prstGeom>
          <a:solidFill>
            <a:srgbClr val="F0ECE2"/>
          </a:solidFill>
          <a:ln w="12700">
            <a:solidFill>
              <a:srgbClr val="F0ECE2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2" name="Text 8"/>
          <p:cNvSpPr txBox="1"/>
          <p:nvPr/>
        </p:nvSpPr>
        <p:spPr>
          <a:xfrm>
            <a:off x="4343400" y="2377440"/>
            <a:ext cx="1086307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A33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 hashing can't see it</a:t>
            </a:r>
            <a:endParaRPr lang="en-US" sz="2400" dirty="0"/>
          </a:p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SHA-256(original)      7e3565cbc039c585…</a:t>
            </a:r>
            <a:endParaRPr lang="en-US" sz="2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SHA-256(the copy)      6941987a9f1664a7…</a:t>
            </a:r>
            <a:endParaRPr lang="en-US" sz="2400" dirty="0"/>
          </a:p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changed pixel gives a completely unrelated result.</a:t>
            </a:r>
            <a:endParaRPr lang="en-US" sz="2400" dirty="0"/>
          </a:p>
        </p:txBody>
      </p:sp>
      <p:sp>
        <p:nvSpPr>
          <p:cNvPr id="13" name="Shape 9"/>
          <p:cNvSpPr/>
          <p:nvPr/>
        </p:nvSpPr>
        <p:spPr>
          <a:xfrm>
            <a:off x="4023360" y="4754880"/>
            <a:ext cx="11503152" cy="3108960"/>
          </a:xfrm>
          <a:prstGeom prst="rect">
            <a:avLst/>
          </a:prstGeom>
          <a:solidFill>
            <a:srgbClr val="F0ECE2"/>
          </a:solidFill>
          <a:ln w="12700">
            <a:solidFill>
              <a:srgbClr val="F0ECE2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4" name="Text 10"/>
          <p:cNvSpPr txBox="1"/>
          <p:nvPr/>
        </p:nvSpPr>
        <p:spPr>
          <a:xfrm>
            <a:off x="4343400" y="4937760"/>
            <a:ext cx="1086307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1A5F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you need a fingerprint of what the image looks like</a:t>
            </a:r>
            <a:endParaRPr lang="en-US" sz="2400" dirty="0"/>
          </a:p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aHash(original)        f8c08087f7f2f121</a:t>
            </a:r>
            <a:endParaRPr lang="en-US" sz="2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aHash(the copy)        f8c08087fffaf121</a:t>
            </a:r>
            <a:endParaRPr lang="en-US" sz="2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bits different out of 64 — similar pictures, similar fingerprints. That works.</a:t>
            </a:r>
            <a:endParaRPr lang="en-US" sz="2400" dirty="0"/>
          </a:p>
          <a:p>
            <a:pPr marL="0" indent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rotate and mirror the same image and it moves 37 bits. That blind spot is where our project starts.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5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4977872" y="85953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502920"/>
            <a:ext cx="147949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Researchers Built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325880"/>
            <a:ext cx="14794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fingerprints per image — each survives a different kind of edit. At least two must agree to call something a copy.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822960" y="4233672"/>
            <a:ext cx="237744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8A8F98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Text 4"/>
          <p:cNvSpPr txBox="1"/>
          <p:nvPr/>
        </p:nvSpPr>
        <p:spPr>
          <a:xfrm>
            <a:off x="1051560" y="4325112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image</a:t>
            </a:r>
            <a:endParaRPr lang="en-US" sz="16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NFT to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0" y="2331720"/>
            <a:ext cx="393192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8A8F98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8" name="Text 6"/>
          <p:cNvSpPr txBox="1"/>
          <p:nvPr/>
        </p:nvSpPr>
        <p:spPr>
          <a:xfrm>
            <a:off x="4800600" y="242316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aHash</a:t>
            </a:r>
            <a:endParaRPr lang="en-US" sz="16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rough brightness layout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509760" y="2331720"/>
            <a:ext cx="228600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8A8F98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0" name="Text 8"/>
          <p:cNvSpPr txBox="1"/>
          <p:nvPr/>
        </p:nvSpPr>
        <p:spPr>
          <a:xfrm>
            <a:off x="9738360" y="24231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tree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931920" y="2811780"/>
            <a:ext cx="640080" cy="0"/>
          </a:xfrm>
          <a:prstGeom prst="line">
            <a:avLst/>
          </a:prstGeom>
          <a:noFill/>
          <a:ln w="19050">
            <a:solidFill>
              <a:srgbClr val="8A8F98"/>
            </a:solidFill>
            <a:prstDash val="solid"/>
            <a:tailEnd type="triangle"/>
          </a:ln>
        </p:spPr>
        <p:txBody>
          <a:bodyPr/>
          <a:lstStyle/>
          <a:p>
            <a:endParaRPr lang="en-IL"/>
          </a:p>
        </p:txBody>
      </p:sp>
      <p:sp>
        <p:nvSpPr>
          <p:cNvPr id="12" name="Shape 10"/>
          <p:cNvSpPr/>
          <p:nvPr/>
        </p:nvSpPr>
        <p:spPr>
          <a:xfrm>
            <a:off x="8503920" y="2811780"/>
            <a:ext cx="1005840" cy="0"/>
          </a:xfrm>
          <a:prstGeom prst="line">
            <a:avLst/>
          </a:prstGeom>
          <a:noFill/>
          <a:ln w="19050">
            <a:solidFill>
              <a:srgbClr val="8A8F98"/>
            </a:solidFill>
            <a:prstDash val="solid"/>
            <a:tailEnd type="triangle"/>
          </a:ln>
        </p:spPr>
        <p:txBody>
          <a:bodyPr/>
          <a:lstStyle/>
          <a:p>
            <a:endParaRPr lang="en-IL"/>
          </a:p>
        </p:txBody>
      </p:sp>
      <p:sp>
        <p:nvSpPr>
          <p:cNvPr id="13" name="Shape 11"/>
          <p:cNvSpPr/>
          <p:nvPr/>
        </p:nvSpPr>
        <p:spPr>
          <a:xfrm>
            <a:off x="11795760" y="2811780"/>
            <a:ext cx="1005840" cy="0"/>
          </a:xfrm>
          <a:prstGeom prst="line">
            <a:avLst/>
          </a:prstGeom>
          <a:noFill/>
          <a:ln w="19050">
            <a:solidFill>
              <a:srgbClr val="8A8F98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4" name="Shape 12"/>
          <p:cNvSpPr/>
          <p:nvPr/>
        </p:nvSpPr>
        <p:spPr>
          <a:xfrm>
            <a:off x="4572000" y="3675888"/>
            <a:ext cx="393192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8A8F98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5" name="Text 13"/>
          <p:cNvSpPr txBox="1"/>
          <p:nvPr/>
        </p:nvSpPr>
        <p:spPr>
          <a:xfrm>
            <a:off x="4800600" y="3767328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pHash</a:t>
            </a:r>
            <a:endParaRPr lang="en-US" sz="16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coarse shapes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509760" y="3675888"/>
            <a:ext cx="228600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8A8F98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7" name="Text 15"/>
          <p:cNvSpPr txBox="1"/>
          <p:nvPr/>
        </p:nvSpPr>
        <p:spPr>
          <a:xfrm>
            <a:off x="9738360" y="3767328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tree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931920" y="4155948"/>
            <a:ext cx="640080" cy="0"/>
          </a:xfrm>
          <a:prstGeom prst="line">
            <a:avLst/>
          </a:prstGeom>
          <a:noFill/>
          <a:ln w="19050">
            <a:solidFill>
              <a:srgbClr val="8A8F98"/>
            </a:solidFill>
            <a:prstDash val="solid"/>
            <a:tailEnd type="triangle"/>
          </a:ln>
        </p:spPr>
        <p:txBody>
          <a:bodyPr/>
          <a:lstStyle/>
          <a:p>
            <a:endParaRPr lang="en-IL"/>
          </a:p>
        </p:txBody>
      </p:sp>
      <p:sp>
        <p:nvSpPr>
          <p:cNvPr id="19" name="Shape 17"/>
          <p:cNvSpPr/>
          <p:nvPr/>
        </p:nvSpPr>
        <p:spPr>
          <a:xfrm>
            <a:off x="8503920" y="4155948"/>
            <a:ext cx="1005840" cy="0"/>
          </a:xfrm>
          <a:prstGeom prst="line">
            <a:avLst/>
          </a:prstGeom>
          <a:noFill/>
          <a:ln w="19050">
            <a:solidFill>
              <a:srgbClr val="8A8F98"/>
            </a:solidFill>
            <a:prstDash val="solid"/>
            <a:tailEnd type="triangle"/>
          </a:ln>
        </p:spPr>
        <p:txBody>
          <a:bodyPr/>
          <a:lstStyle/>
          <a:p>
            <a:endParaRPr lang="en-IL"/>
          </a:p>
        </p:txBody>
      </p:sp>
      <p:sp>
        <p:nvSpPr>
          <p:cNvPr id="20" name="Shape 18"/>
          <p:cNvSpPr/>
          <p:nvPr/>
        </p:nvSpPr>
        <p:spPr>
          <a:xfrm>
            <a:off x="11795760" y="4155948"/>
            <a:ext cx="1005840" cy="0"/>
          </a:xfrm>
          <a:prstGeom prst="line">
            <a:avLst/>
          </a:prstGeom>
          <a:noFill/>
          <a:ln w="19050">
            <a:solidFill>
              <a:srgbClr val="8A8F98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1" name="Shape 19"/>
          <p:cNvSpPr/>
          <p:nvPr/>
        </p:nvSpPr>
        <p:spPr>
          <a:xfrm>
            <a:off x="4572000" y="5020056"/>
            <a:ext cx="393192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8A8F98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2" name="Text 20"/>
          <p:cNvSpPr txBox="1"/>
          <p:nvPr/>
        </p:nvSpPr>
        <p:spPr>
          <a:xfrm>
            <a:off x="4800600" y="5111496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hsvHash</a:t>
            </a:r>
            <a:endParaRPr lang="en-US" sz="16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mix of colours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9509760" y="5020056"/>
            <a:ext cx="228600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8A8F98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4" name="Text 22"/>
          <p:cNvSpPr txBox="1"/>
          <p:nvPr/>
        </p:nvSpPr>
        <p:spPr>
          <a:xfrm>
            <a:off x="9738360" y="5111496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tree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931920" y="5500116"/>
            <a:ext cx="640080" cy="0"/>
          </a:xfrm>
          <a:prstGeom prst="line">
            <a:avLst/>
          </a:prstGeom>
          <a:noFill/>
          <a:ln w="19050">
            <a:solidFill>
              <a:srgbClr val="8A8F98"/>
            </a:solidFill>
            <a:prstDash val="solid"/>
            <a:tailEnd type="triangle"/>
          </a:ln>
        </p:spPr>
        <p:txBody>
          <a:bodyPr/>
          <a:lstStyle/>
          <a:p>
            <a:endParaRPr lang="en-IL"/>
          </a:p>
        </p:txBody>
      </p:sp>
      <p:sp>
        <p:nvSpPr>
          <p:cNvPr id="26" name="Shape 24"/>
          <p:cNvSpPr/>
          <p:nvPr/>
        </p:nvSpPr>
        <p:spPr>
          <a:xfrm>
            <a:off x="8503920" y="5500116"/>
            <a:ext cx="1005840" cy="0"/>
          </a:xfrm>
          <a:prstGeom prst="line">
            <a:avLst/>
          </a:prstGeom>
          <a:noFill/>
          <a:ln w="19050">
            <a:solidFill>
              <a:srgbClr val="8A8F98"/>
            </a:solidFill>
            <a:prstDash val="solid"/>
            <a:tailEnd type="triangle"/>
          </a:ln>
        </p:spPr>
        <p:txBody>
          <a:bodyPr/>
          <a:lstStyle/>
          <a:p>
            <a:endParaRPr lang="en-IL"/>
          </a:p>
        </p:txBody>
      </p:sp>
      <p:sp>
        <p:nvSpPr>
          <p:cNvPr id="27" name="Shape 25"/>
          <p:cNvSpPr/>
          <p:nvPr/>
        </p:nvSpPr>
        <p:spPr>
          <a:xfrm>
            <a:off x="11795760" y="5500116"/>
            <a:ext cx="1005840" cy="0"/>
          </a:xfrm>
          <a:prstGeom prst="line">
            <a:avLst/>
          </a:prstGeom>
          <a:noFill/>
          <a:ln w="19050">
            <a:solidFill>
              <a:srgbClr val="8A8F98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8" name="Shape 26"/>
          <p:cNvSpPr/>
          <p:nvPr/>
        </p:nvSpPr>
        <p:spPr>
          <a:xfrm>
            <a:off x="4572000" y="6364224"/>
            <a:ext cx="3931920" cy="960120"/>
          </a:xfrm>
          <a:prstGeom prst="rect">
            <a:avLst/>
          </a:prstGeom>
          <a:solidFill>
            <a:srgbClr val="EEF3FB"/>
          </a:solidFill>
          <a:ln w="31750">
            <a:solidFill>
              <a:srgbClr val="1A5FB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9" name="Text 27"/>
          <p:cNvSpPr txBox="1"/>
          <p:nvPr/>
        </p:nvSpPr>
        <p:spPr>
          <a:xfrm>
            <a:off x="4800600" y="6455664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1A5F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sHash</a:t>
            </a:r>
            <a:endParaRPr lang="en-US" sz="16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pieces of the image — their answer to cropping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9509760" y="6364224"/>
            <a:ext cx="228600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8A8F98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1" name="Text 29"/>
          <p:cNvSpPr txBox="1"/>
          <p:nvPr/>
        </p:nvSpPr>
        <p:spPr>
          <a:xfrm>
            <a:off x="9738360" y="6455664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tree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3931920" y="6844284"/>
            <a:ext cx="640080" cy="0"/>
          </a:xfrm>
          <a:prstGeom prst="line">
            <a:avLst/>
          </a:prstGeom>
          <a:noFill/>
          <a:ln w="19050">
            <a:solidFill>
              <a:srgbClr val="8A8F98"/>
            </a:solidFill>
            <a:prstDash val="solid"/>
            <a:tailEnd type="triangle"/>
          </a:ln>
        </p:spPr>
        <p:txBody>
          <a:bodyPr/>
          <a:lstStyle/>
          <a:p>
            <a:endParaRPr lang="en-IL"/>
          </a:p>
        </p:txBody>
      </p:sp>
      <p:sp>
        <p:nvSpPr>
          <p:cNvPr id="33" name="Shape 31"/>
          <p:cNvSpPr/>
          <p:nvPr/>
        </p:nvSpPr>
        <p:spPr>
          <a:xfrm>
            <a:off x="8503920" y="6844284"/>
            <a:ext cx="1005840" cy="0"/>
          </a:xfrm>
          <a:prstGeom prst="line">
            <a:avLst/>
          </a:prstGeom>
          <a:noFill/>
          <a:ln w="19050">
            <a:solidFill>
              <a:srgbClr val="8A8F98"/>
            </a:solidFill>
            <a:prstDash val="solid"/>
            <a:tailEnd type="triangle"/>
          </a:ln>
        </p:spPr>
        <p:txBody>
          <a:bodyPr/>
          <a:lstStyle/>
          <a:p>
            <a:endParaRPr lang="en-IL"/>
          </a:p>
        </p:txBody>
      </p:sp>
      <p:sp>
        <p:nvSpPr>
          <p:cNvPr id="34" name="Shape 32"/>
          <p:cNvSpPr/>
          <p:nvPr/>
        </p:nvSpPr>
        <p:spPr>
          <a:xfrm>
            <a:off x="11795760" y="6844284"/>
            <a:ext cx="1005840" cy="0"/>
          </a:xfrm>
          <a:prstGeom prst="line">
            <a:avLst/>
          </a:prstGeom>
          <a:noFill/>
          <a:ln w="19050">
            <a:solidFill>
              <a:srgbClr val="8A8F98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5" name="Shape 33"/>
          <p:cNvSpPr/>
          <p:nvPr/>
        </p:nvSpPr>
        <p:spPr>
          <a:xfrm>
            <a:off x="3931920" y="2811780"/>
            <a:ext cx="0" cy="4032504"/>
          </a:xfrm>
          <a:prstGeom prst="line">
            <a:avLst/>
          </a:prstGeom>
          <a:noFill/>
          <a:ln w="19050">
            <a:solidFill>
              <a:srgbClr val="8A8F98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6" name="Shape 34"/>
          <p:cNvSpPr/>
          <p:nvPr/>
        </p:nvSpPr>
        <p:spPr>
          <a:xfrm>
            <a:off x="3200400" y="4828032"/>
            <a:ext cx="731520" cy="0"/>
          </a:xfrm>
          <a:prstGeom prst="line">
            <a:avLst/>
          </a:prstGeom>
          <a:noFill/>
          <a:ln w="19050">
            <a:solidFill>
              <a:srgbClr val="8A8F98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7" name="Shape 35"/>
          <p:cNvSpPr/>
          <p:nvPr/>
        </p:nvSpPr>
        <p:spPr>
          <a:xfrm>
            <a:off x="12801600" y="2811780"/>
            <a:ext cx="0" cy="4032504"/>
          </a:xfrm>
          <a:prstGeom prst="line">
            <a:avLst/>
          </a:prstGeom>
          <a:noFill/>
          <a:ln w="19050">
            <a:solidFill>
              <a:srgbClr val="8A8F98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8" name="Shape 36"/>
          <p:cNvSpPr/>
          <p:nvPr/>
        </p:nvSpPr>
        <p:spPr>
          <a:xfrm>
            <a:off x="12801600" y="4828032"/>
            <a:ext cx="548640" cy="0"/>
          </a:xfrm>
          <a:prstGeom prst="line">
            <a:avLst/>
          </a:prstGeom>
          <a:noFill/>
          <a:ln w="19050">
            <a:solidFill>
              <a:srgbClr val="8A8F98"/>
            </a:solidFill>
            <a:prstDash val="solid"/>
            <a:tailEnd type="triangle"/>
          </a:ln>
        </p:spPr>
        <p:txBody>
          <a:bodyPr/>
          <a:lstStyle/>
          <a:p>
            <a:endParaRPr lang="en-IL"/>
          </a:p>
        </p:txBody>
      </p:sp>
      <p:sp>
        <p:nvSpPr>
          <p:cNvPr id="39" name="Shape 37"/>
          <p:cNvSpPr/>
          <p:nvPr/>
        </p:nvSpPr>
        <p:spPr>
          <a:xfrm>
            <a:off x="13350240" y="4050792"/>
            <a:ext cx="2194560" cy="1554480"/>
          </a:xfrm>
          <a:prstGeom prst="rect">
            <a:avLst/>
          </a:prstGeom>
          <a:solidFill>
            <a:srgbClr val="FFFFFF"/>
          </a:solidFill>
          <a:ln w="31750">
            <a:solidFill>
              <a:srgbClr val="1A5FB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0" name="Text 38"/>
          <p:cNvSpPr txBox="1"/>
          <p:nvPr/>
        </p:nvSpPr>
        <p:spPr>
          <a:xfrm>
            <a:off x="13578840" y="4142232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5F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of 4</a:t>
            </a:r>
            <a:endParaRPr lang="en-US" sz="16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1A5F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agree?</a:t>
            </a:r>
            <a:endParaRPr lang="en-US" sz="1600" dirty="0"/>
          </a:p>
        </p:txBody>
      </p:sp>
      <p:sp>
        <p:nvSpPr>
          <p:cNvPr id="41" name="Text 39"/>
          <p:cNvSpPr txBox="1"/>
          <p:nvPr/>
        </p:nvSpPr>
        <p:spPr>
          <a:xfrm>
            <a:off x="822960" y="7772400"/>
            <a:ext cx="14612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agreeing is what keeps the false alarms down — no single fingerprint survives every edit.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5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4977872" y="85953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502920"/>
            <a:ext cx="147949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Set Out to Build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325880"/>
            <a:ext cx="14794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original goal was efficiency — make their detector cheaper to run. The idea: an edit classifier.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22960" y="3611880"/>
            <a:ext cx="237744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8A8F98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Text 4"/>
          <p:cNvSpPr txBox="1"/>
          <p:nvPr/>
        </p:nvSpPr>
        <p:spPr>
          <a:xfrm>
            <a:off x="1051560" y="3703320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image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206240" y="3520440"/>
            <a:ext cx="3840480" cy="1463040"/>
          </a:xfrm>
          <a:prstGeom prst="rect">
            <a:avLst/>
          </a:prstGeom>
          <a:solidFill>
            <a:srgbClr val="FFFFFF"/>
          </a:solidFill>
          <a:ln w="31750">
            <a:solidFill>
              <a:srgbClr val="1A5FB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8" name="Text 6"/>
          <p:cNvSpPr txBox="1"/>
          <p:nvPr/>
        </p:nvSpPr>
        <p:spPr>
          <a:xfrm>
            <a:off x="4434840" y="361188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5F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edit classifier</a:t>
            </a:r>
            <a:endParaRPr lang="en-US" sz="16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kind of edit is this?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200400" y="4251960"/>
            <a:ext cx="1005840" cy="0"/>
          </a:xfrm>
          <a:prstGeom prst="line">
            <a:avLst/>
          </a:prstGeom>
          <a:noFill/>
          <a:ln w="19050">
            <a:solidFill>
              <a:srgbClr val="8A8F98"/>
            </a:solidFill>
            <a:prstDash val="solid"/>
            <a:tailEnd type="triangle"/>
          </a:ln>
        </p:spPr>
        <p:txBody>
          <a:bodyPr/>
          <a:lstStyle/>
          <a:p>
            <a:endParaRPr lang="en-IL"/>
          </a:p>
        </p:txBody>
      </p:sp>
      <p:sp>
        <p:nvSpPr>
          <p:cNvPr id="10" name="Shape 8"/>
          <p:cNvSpPr/>
          <p:nvPr/>
        </p:nvSpPr>
        <p:spPr>
          <a:xfrm>
            <a:off x="8046720" y="4251960"/>
            <a:ext cx="731520" cy="0"/>
          </a:xfrm>
          <a:prstGeom prst="line">
            <a:avLst/>
          </a:prstGeom>
          <a:noFill/>
          <a:ln w="19050">
            <a:solidFill>
              <a:srgbClr val="8A8F98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1" name="Shape 9"/>
          <p:cNvSpPr/>
          <p:nvPr/>
        </p:nvSpPr>
        <p:spPr>
          <a:xfrm>
            <a:off x="8778240" y="2743200"/>
            <a:ext cx="0" cy="3017520"/>
          </a:xfrm>
          <a:prstGeom prst="line">
            <a:avLst/>
          </a:prstGeom>
          <a:noFill/>
          <a:ln w="19050">
            <a:solidFill>
              <a:srgbClr val="8A8F98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2" name="Shape 10"/>
          <p:cNvSpPr/>
          <p:nvPr/>
        </p:nvSpPr>
        <p:spPr>
          <a:xfrm>
            <a:off x="9326880" y="2331720"/>
            <a:ext cx="292608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8A8F98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3" name="Text 11"/>
          <p:cNvSpPr txBox="1"/>
          <p:nvPr/>
        </p:nvSpPr>
        <p:spPr>
          <a:xfrm>
            <a:off x="9555480" y="24231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aHash tree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778240" y="2743200"/>
            <a:ext cx="548640" cy="0"/>
          </a:xfrm>
          <a:prstGeom prst="line">
            <a:avLst/>
          </a:prstGeom>
          <a:noFill/>
          <a:ln w="19050">
            <a:solidFill>
              <a:srgbClr val="8A8F98"/>
            </a:solidFill>
            <a:prstDash val="solid"/>
            <a:tailEnd type="triangle"/>
          </a:ln>
        </p:spPr>
        <p:txBody>
          <a:bodyPr/>
          <a:lstStyle/>
          <a:p>
            <a:endParaRPr lang="en-IL"/>
          </a:p>
        </p:txBody>
      </p:sp>
      <p:sp>
        <p:nvSpPr>
          <p:cNvPr id="15" name="Shape 13"/>
          <p:cNvSpPr/>
          <p:nvPr/>
        </p:nvSpPr>
        <p:spPr>
          <a:xfrm>
            <a:off x="9326880" y="3337560"/>
            <a:ext cx="292608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8A8F98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6" name="Text 14"/>
          <p:cNvSpPr txBox="1"/>
          <p:nvPr/>
        </p:nvSpPr>
        <p:spPr>
          <a:xfrm>
            <a:off x="9555480" y="34290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pHash tree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778240" y="3749040"/>
            <a:ext cx="548640" cy="0"/>
          </a:xfrm>
          <a:prstGeom prst="line">
            <a:avLst/>
          </a:prstGeom>
          <a:noFill/>
          <a:ln w="19050">
            <a:solidFill>
              <a:srgbClr val="8A8F98"/>
            </a:solidFill>
            <a:prstDash val="solid"/>
            <a:tailEnd type="triangle"/>
          </a:ln>
        </p:spPr>
        <p:txBody>
          <a:bodyPr/>
          <a:lstStyle/>
          <a:p>
            <a:endParaRPr lang="en-IL"/>
          </a:p>
        </p:txBody>
      </p:sp>
      <p:sp>
        <p:nvSpPr>
          <p:cNvPr id="18" name="Shape 16"/>
          <p:cNvSpPr/>
          <p:nvPr/>
        </p:nvSpPr>
        <p:spPr>
          <a:xfrm>
            <a:off x="9326880" y="4343400"/>
            <a:ext cx="29260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9AA0A6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9" name="Text 17"/>
          <p:cNvSpPr txBox="1"/>
          <p:nvPr/>
        </p:nvSpPr>
        <p:spPr>
          <a:xfrm>
            <a:off x="9555480" y="44348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hsvHash tree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778240" y="4754880"/>
            <a:ext cx="548640" cy="0"/>
          </a:xfrm>
          <a:prstGeom prst="line">
            <a:avLst/>
          </a:prstGeom>
          <a:noFill/>
          <a:ln w="19050">
            <a:solidFill>
              <a:srgbClr val="9AA0A6"/>
            </a:solidFill>
            <a:prstDash val="dash"/>
          </a:ln>
        </p:spPr>
        <p:txBody>
          <a:bodyPr/>
          <a:lstStyle/>
          <a:p>
            <a:endParaRPr lang="en-IL"/>
          </a:p>
        </p:txBody>
      </p:sp>
      <p:sp>
        <p:nvSpPr>
          <p:cNvPr id="21" name="Text 19"/>
          <p:cNvSpPr txBox="1"/>
          <p:nvPr/>
        </p:nvSpPr>
        <p:spPr>
          <a:xfrm>
            <a:off x="12481560" y="450799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33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skipped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9326880" y="5349240"/>
            <a:ext cx="29260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9AA0A6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3" name="Text 21"/>
          <p:cNvSpPr txBox="1"/>
          <p:nvPr/>
        </p:nvSpPr>
        <p:spPr>
          <a:xfrm>
            <a:off x="9555480" y="54406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sHash tree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778240" y="5760720"/>
            <a:ext cx="548640" cy="0"/>
          </a:xfrm>
          <a:prstGeom prst="line">
            <a:avLst/>
          </a:prstGeom>
          <a:noFill/>
          <a:ln w="19050">
            <a:solidFill>
              <a:srgbClr val="9AA0A6"/>
            </a:solidFill>
            <a:prstDash val="dash"/>
          </a:ln>
        </p:spPr>
        <p:txBody>
          <a:bodyPr/>
          <a:lstStyle/>
          <a:p>
            <a:endParaRPr lang="en-IL"/>
          </a:p>
        </p:txBody>
      </p:sp>
      <p:sp>
        <p:nvSpPr>
          <p:cNvPr id="25" name="Text 23"/>
          <p:cNvSpPr txBox="1"/>
          <p:nvPr/>
        </p:nvSpPr>
        <p:spPr>
          <a:xfrm>
            <a:off x="12481560" y="551383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33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skipped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9326880" y="64008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fewer searches per query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31520" y="6858000"/>
            <a:ext cx="14794992" cy="1280160"/>
          </a:xfrm>
          <a:prstGeom prst="rect">
            <a:avLst/>
          </a:prstGeom>
          <a:solidFill>
            <a:srgbClr val="FFFFFF"/>
          </a:solidFill>
          <a:ln w="15875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8" name="Text 26"/>
          <p:cNvSpPr txBox="1"/>
          <p:nvPr/>
        </p:nvSpPr>
        <p:spPr>
          <a:xfrm>
            <a:off x="960120" y="6949440"/>
            <a:ext cx="143377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build it we had to understand exactly what each of the four signals does — </a:t>
            </a:r>
            <a:r>
              <a:rPr lang="en-US" sz="21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that is where the project changed.</a:t>
            </a:r>
            <a:endParaRPr lang="en-US" sz="2100" dirty="0"/>
          </a:p>
        </p:txBody>
      </p:sp>
      <p:sp>
        <p:nvSpPr>
          <p:cNvPr id="29" name="Text 27"/>
          <p:cNvSpPr txBox="1"/>
          <p:nvPr/>
        </p:nvSpPr>
        <p:spPr>
          <a:xfrm>
            <a:off x="731520" y="8229600"/>
            <a:ext cx="14794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(We'll come back to it at the end.)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5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4977872" y="85953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502920"/>
            <a:ext cx="147949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Found: sHash Isn't a Distance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325880"/>
            <a:ext cx="14794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sHash cuts an image into pieces and fingerprints each piece. Comparing two images means matching the two lists — and that comparison runs one way.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1371600" y="2743200"/>
            <a:ext cx="4206240" cy="2468880"/>
          </a:xfrm>
          <a:prstGeom prst="rect">
            <a:avLst/>
          </a:prstGeom>
          <a:solidFill>
            <a:srgbClr val="FFFFFF"/>
          </a:solidFill>
          <a:ln w="19050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Text 4"/>
          <p:cNvSpPr txBox="1"/>
          <p:nvPr/>
        </p:nvSpPr>
        <p:spPr>
          <a:xfrm>
            <a:off x="1371600" y="29718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A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212848" y="3657600"/>
            <a:ext cx="603504" cy="603504"/>
          </a:xfrm>
          <a:prstGeom prst="rect">
            <a:avLst/>
          </a:prstGeom>
          <a:solidFill>
            <a:srgbClr val="FFFFFF"/>
          </a:solidFill>
          <a:ln w="19050">
            <a:solidFill>
              <a:srgbClr val="8A8F98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8" name="Shape 6"/>
          <p:cNvSpPr/>
          <p:nvPr/>
        </p:nvSpPr>
        <p:spPr>
          <a:xfrm>
            <a:off x="2990088" y="3657600"/>
            <a:ext cx="603504" cy="603504"/>
          </a:xfrm>
          <a:prstGeom prst="rect">
            <a:avLst/>
          </a:prstGeom>
          <a:solidFill>
            <a:srgbClr val="FFFFFF"/>
          </a:solidFill>
          <a:ln w="19050">
            <a:solidFill>
              <a:srgbClr val="8A8F98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9" name="Shape 7"/>
          <p:cNvSpPr/>
          <p:nvPr/>
        </p:nvSpPr>
        <p:spPr>
          <a:xfrm>
            <a:off x="3767328" y="3657600"/>
            <a:ext cx="603504" cy="603504"/>
          </a:xfrm>
          <a:prstGeom prst="rect">
            <a:avLst/>
          </a:prstGeom>
          <a:solidFill>
            <a:srgbClr val="FFFFFF"/>
          </a:solidFill>
          <a:ln w="19050">
            <a:solidFill>
              <a:srgbClr val="8A8F98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0" name="Text 8"/>
          <p:cNvSpPr txBox="1"/>
          <p:nvPr/>
        </p:nvSpPr>
        <p:spPr>
          <a:xfrm>
            <a:off x="1371600" y="45262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pieces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698480" y="2743200"/>
            <a:ext cx="4206240" cy="2468880"/>
          </a:xfrm>
          <a:prstGeom prst="rect">
            <a:avLst/>
          </a:prstGeom>
          <a:solidFill>
            <a:srgbClr val="FFFFFF"/>
          </a:solidFill>
          <a:ln w="19050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2" name="Text 10"/>
          <p:cNvSpPr txBox="1"/>
          <p:nvPr/>
        </p:nvSpPr>
        <p:spPr>
          <a:xfrm>
            <a:off x="10698480" y="29718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B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11155680" y="3657600"/>
            <a:ext cx="603504" cy="603504"/>
          </a:xfrm>
          <a:prstGeom prst="rect">
            <a:avLst/>
          </a:prstGeom>
          <a:solidFill>
            <a:srgbClr val="FFFFFF"/>
          </a:solidFill>
          <a:ln w="19050">
            <a:solidFill>
              <a:srgbClr val="8A8F98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4" name="Shape 12"/>
          <p:cNvSpPr/>
          <p:nvPr/>
        </p:nvSpPr>
        <p:spPr>
          <a:xfrm>
            <a:off x="11932920" y="3657600"/>
            <a:ext cx="603504" cy="603504"/>
          </a:xfrm>
          <a:prstGeom prst="rect">
            <a:avLst/>
          </a:prstGeom>
          <a:solidFill>
            <a:srgbClr val="FFFFFF"/>
          </a:solidFill>
          <a:ln w="19050">
            <a:solidFill>
              <a:srgbClr val="8A8F98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5" name="Shape 13"/>
          <p:cNvSpPr/>
          <p:nvPr/>
        </p:nvSpPr>
        <p:spPr>
          <a:xfrm>
            <a:off x="12710160" y="3657600"/>
            <a:ext cx="603504" cy="603504"/>
          </a:xfrm>
          <a:prstGeom prst="rect">
            <a:avLst/>
          </a:prstGeom>
          <a:solidFill>
            <a:srgbClr val="FFFFFF"/>
          </a:solidFill>
          <a:ln w="19050">
            <a:solidFill>
              <a:srgbClr val="8A8F98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6" name="Shape 14"/>
          <p:cNvSpPr/>
          <p:nvPr/>
        </p:nvSpPr>
        <p:spPr>
          <a:xfrm>
            <a:off x="13487400" y="3657600"/>
            <a:ext cx="603504" cy="603504"/>
          </a:xfrm>
          <a:prstGeom prst="rect">
            <a:avLst/>
          </a:prstGeom>
          <a:solidFill>
            <a:srgbClr val="EEF3FB"/>
          </a:solidFill>
          <a:ln w="19050">
            <a:solidFill>
              <a:srgbClr val="1A5FB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7" name="Text 15"/>
          <p:cNvSpPr txBox="1"/>
          <p:nvPr/>
        </p:nvSpPr>
        <p:spPr>
          <a:xfrm>
            <a:off x="10515600" y="45262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A5F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pieces — one has no match in A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577840" y="3383280"/>
            <a:ext cx="5120640" cy="0"/>
          </a:xfrm>
          <a:prstGeom prst="line">
            <a:avLst/>
          </a:prstGeom>
          <a:noFill/>
          <a:ln w="25400">
            <a:solidFill>
              <a:srgbClr val="2B2B2B"/>
            </a:solidFill>
            <a:prstDash val="solid"/>
            <a:tailEnd type="triangle"/>
          </a:ln>
        </p:spPr>
        <p:txBody>
          <a:bodyPr/>
          <a:lstStyle/>
          <a:p>
            <a:endParaRPr lang="en-IL"/>
          </a:p>
        </p:txBody>
      </p:sp>
      <p:sp>
        <p:nvSpPr>
          <p:cNvPr id="19" name="Text 17"/>
          <p:cNvSpPr txBox="1"/>
          <p:nvPr/>
        </p:nvSpPr>
        <p:spPr>
          <a:xfrm>
            <a:off x="5577840" y="27889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compared to B   =   2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 flipH="1">
            <a:off x="5577840" y="4663440"/>
            <a:ext cx="5120640" cy="0"/>
          </a:xfrm>
          <a:prstGeom prst="line">
            <a:avLst/>
          </a:prstGeom>
          <a:noFill/>
          <a:ln w="25400">
            <a:solidFill>
              <a:srgbClr val="A33A47"/>
            </a:solidFill>
            <a:prstDash val="solid"/>
            <a:tailEnd type="triangle"/>
          </a:ln>
        </p:spPr>
        <p:txBody>
          <a:bodyPr/>
          <a:lstStyle/>
          <a:p>
            <a:endParaRPr lang="en-IL"/>
          </a:p>
        </p:txBody>
      </p:sp>
      <p:sp>
        <p:nvSpPr>
          <p:cNvPr id="21" name="Text 19"/>
          <p:cNvSpPr txBox="1"/>
          <p:nvPr/>
        </p:nvSpPr>
        <p:spPr>
          <a:xfrm>
            <a:off x="5577840" y="47548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A33A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compared to A   =   10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731520" y="5989320"/>
            <a:ext cx="14794992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3" name="Text 21"/>
          <p:cNvSpPr txBox="1"/>
          <p:nvPr/>
        </p:nvSpPr>
        <p:spPr>
          <a:xfrm>
            <a:off x="960120" y="6080760"/>
            <a:ext cx="143377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two images. Two different answers. </a:t>
            </a:r>
            <a:r>
              <a:rPr lang="en-US" sz="2400" b="1" dirty="0">
                <a:solidFill>
                  <a:srgbClr val="A33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is not a distance.</a:t>
            </a:r>
            <a:endParaRPr lang="en-US" sz="2400" dirty="0"/>
          </a:p>
        </p:txBody>
      </p:sp>
      <p:sp>
        <p:nvSpPr>
          <p:cNvPr id="24" name="Text 22"/>
          <p:cNvSpPr txBox="1"/>
          <p:nvPr/>
        </p:nvSpPr>
        <p:spPr>
          <a:xfrm>
            <a:off x="731520" y="7498080"/>
            <a:ext cx="14794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data file the authors shared with us, the reported distance matches one direction on all 1,802 pairs — and the other direction on only 240.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5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4977872" y="85953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502920"/>
            <a:ext cx="147949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That Breaks the Search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325880"/>
            <a:ext cx="14794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tree saves time by skipping branches. That only works if the direct route is never longer than the detour.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 flipV="1">
            <a:off x="2560320" y="4114800"/>
            <a:ext cx="1097280" cy="1280160"/>
          </a:xfrm>
          <a:prstGeom prst="line">
            <a:avLst/>
          </a:prstGeom>
          <a:noFill/>
          <a:ln w="22225">
            <a:solidFill>
              <a:srgbClr val="8A8F98"/>
            </a:solidFill>
            <a:prstDash val="solid"/>
            <a:tailEnd type="triangle" w="med" len="med"/>
          </a:ln>
        </p:spPr>
        <p:txBody>
          <a:bodyPr/>
          <a:lstStyle/>
          <a:p>
            <a:endParaRPr lang="en-IL"/>
          </a:p>
        </p:txBody>
      </p:sp>
      <p:sp>
        <p:nvSpPr>
          <p:cNvPr id="6" name="Shape 4"/>
          <p:cNvSpPr/>
          <p:nvPr/>
        </p:nvSpPr>
        <p:spPr>
          <a:xfrm>
            <a:off x="5394960" y="4114800"/>
            <a:ext cx="1097280" cy="1280160"/>
          </a:xfrm>
          <a:prstGeom prst="line">
            <a:avLst/>
          </a:prstGeom>
          <a:noFill/>
          <a:ln w="22225">
            <a:solidFill>
              <a:srgbClr val="8A8F98"/>
            </a:solidFill>
            <a:prstDash val="solid"/>
            <a:tailEnd type="triangle" w="med" len="med"/>
          </a:ln>
        </p:spPr>
        <p:txBody>
          <a:bodyPr/>
          <a:lstStyle/>
          <a:p>
            <a:endParaRPr lang="en-IL"/>
          </a:p>
        </p:txBody>
      </p:sp>
      <p:sp>
        <p:nvSpPr>
          <p:cNvPr id="7" name="Shape 5"/>
          <p:cNvSpPr/>
          <p:nvPr/>
        </p:nvSpPr>
        <p:spPr>
          <a:xfrm>
            <a:off x="2560320" y="6263640"/>
            <a:ext cx="3931920" cy="0"/>
          </a:xfrm>
          <a:prstGeom prst="line">
            <a:avLst/>
          </a:prstGeom>
          <a:noFill/>
          <a:ln w="28575">
            <a:solidFill>
              <a:srgbClr val="A33A47"/>
            </a:solidFill>
            <a:prstDash val="dash"/>
            <a:tailEnd type="triangle" w="med" len="med"/>
          </a:ln>
        </p:spPr>
        <p:txBody>
          <a:bodyPr/>
          <a:lstStyle/>
          <a:p>
            <a:endParaRPr lang="en-IL"/>
          </a:p>
        </p:txBody>
      </p:sp>
      <p:sp>
        <p:nvSpPr>
          <p:cNvPr id="8" name="Shape 6"/>
          <p:cNvSpPr/>
          <p:nvPr/>
        </p:nvSpPr>
        <p:spPr>
          <a:xfrm>
            <a:off x="822960" y="5394960"/>
            <a:ext cx="1737360" cy="1737360"/>
          </a:xfrm>
          <a:prstGeom prst="rect">
            <a:avLst/>
          </a:prstGeom>
          <a:solidFill>
            <a:srgbClr val="FFFFFF"/>
          </a:solidFill>
          <a:ln w="22225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9" name="Text 7"/>
          <p:cNvSpPr txBox="1"/>
          <p:nvPr/>
        </p:nvSpPr>
        <p:spPr>
          <a:xfrm>
            <a:off x="822960" y="539496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🐱</a:t>
            </a:r>
            <a:endParaRPr lang="en-US" sz="6000" dirty="0"/>
          </a:p>
        </p:txBody>
      </p:sp>
      <p:sp>
        <p:nvSpPr>
          <p:cNvPr id="10" name="Text 8"/>
          <p:cNvSpPr txBox="1"/>
          <p:nvPr/>
        </p:nvSpPr>
        <p:spPr>
          <a:xfrm>
            <a:off x="0" y="71780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r>
              <a:rPr lang="en-US" sz="16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 cat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657600" y="2377440"/>
            <a:ext cx="1737360" cy="1737360"/>
          </a:xfrm>
          <a:prstGeom prst="rect">
            <a:avLst/>
          </a:prstGeom>
          <a:solidFill>
            <a:srgbClr val="FFFFFF"/>
          </a:solidFill>
          <a:ln w="22225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2" name="Text 10"/>
          <p:cNvSpPr txBox="1"/>
          <p:nvPr/>
        </p:nvSpPr>
        <p:spPr>
          <a:xfrm>
            <a:off x="3657600" y="23774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🐱🐶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2834640" y="41605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r>
              <a:rPr lang="en-US" sz="16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 cat and a dog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492240" y="5394960"/>
            <a:ext cx="1737360" cy="1737360"/>
          </a:xfrm>
          <a:prstGeom prst="rect">
            <a:avLst/>
          </a:prstGeom>
          <a:solidFill>
            <a:srgbClr val="FFFFFF"/>
          </a:solidFill>
          <a:ln w="22225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5" name="Text 13"/>
          <p:cNvSpPr txBox="1"/>
          <p:nvPr/>
        </p:nvSpPr>
        <p:spPr>
          <a:xfrm>
            <a:off x="6492240" y="539496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🐶</a:t>
            </a:r>
            <a:endParaRPr lang="en-US" sz="6000" dirty="0"/>
          </a:p>
        </p:txBody>
      </p:sp>
      <p:sp>
        <p:nvSpPr>
          <p:cNvPr id="16" name="Text 14"/>
          <p:cNvSpPr txBox="1"/>
          <p:nvPr/>
        </p:nvSpPr>
        <p:spPr>
          <a:xfrm>
            <a:off x="5669280" y="71780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r>
              <a:rPr lang="en-US" sz="16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 dog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2057400" y="44805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5760720" y="44805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3657600" y="63093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A33A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" y="78181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33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to C is 30 — but the tree assumed at most 2 + 16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509760" y="2286000"/>
            <a:ext cx="6016752" cy="2103120"/>
          </a:xfrm>
          <a:prstGeom prst="rect">
            <a:avLst/>
          </a:prstGeom>
          <a:solidFill>
            <a:srgbClr val="F0ECE2"/>
          </a:solidFill>
          <a:ln w="12700">
            <a:solidFill>
              <a:srgbClr val="F0ECE2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2" name="Text 20"/>
          <p:cNvSpPr txBox="1"/>
          <p:nvPr/>
        </p:nvSpPr>
        <p:spPr>
          <a:xfrm>
            <a:off x="9784080" y="2450592"/>
            <a:ext cx="5468112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tree assumes</a:t>
            </a:r>
            <a:endParaRPr lang="en-US" sz="2200" dirty="0"/>
          </a:p>
          <a:p>
            <a:pPr marL="0" indent="0">
              <a:buNone/>
            </a:pPr>
            <a:r>
              <a:rPr lang="en-US" sz="16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A is close to B, and B is close to C, then A can't be far from C. So it skips whole branches without looking at them.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9509760" y="4572000"/>
            <a:ext cx="6016752" cy="2103120"/>
          </a:xfrm>
          <a:prstGeom prst="rect">
            <a:avLst/>
          </a:prstGeom>
          <a:solidFill>
            <a:srgbClr val="F0ECE2"/>
          </a:solidFill>
          <a:ln w="12700">
            <a:solidFill>
              <a:srgbClr val="F0ECE2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4" name="Text 22"/>
          <p:cNvSpPr txBox="1"/>
          <p:nvPr/>
        </p:nvSpPr>
        <p:spPr>
          <a:xfrm>
            <a:off x="9784080" y="4736592"/>
            <a:ext cx="5468112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A33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sHash actually gives</a:t>
            </a:r>
            <a:endParaRPr lang="en-US" sz="2200" dirty="0"/>
          </a:p>
          <a:p>
            <a:pPr marL="0" indent="0">
              <a:buNone/>
            </a:pPr>
            <a:r>
              <a:rPr lang="en-US" sz="16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composite image sits close to two unrelated ones at the same time. The assumption is simply false.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9509760" y="6858000"/>
            <a:ext cx="6016752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A33A4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6" name="Text 24"/>
          <p:cNvSpPr txBox="1"/>
          <p:nvPr/>
        </p:nvSpPr>
        <p:spPr>
          <a:xfrm>
            <a:off x="9738360" y="6949440"/>
            <a:ext cx="55595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tree throws away a branch holding a real copy — and nothing looks wrong.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5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4977872" y="85953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502920"/>
            <a:ext cx="147949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Replacement — and What It Costs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325880"/>
            <a:ext cx="14794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swapped sHash for ORB: matching real features between two images, instead of one fingerprint.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286000"/>
            <a:ext cx="6766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400"/>
              </a:spcAft>
              <a:buNone/>
            </a:pPr>
            <a:r>
              <a:rPr lang="en-US" sz="24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ORB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handles cropping and rotation properly — that was sHash's job.</a:t>
            </a:r>
            <a:endParaRPr lang="en-US" sz="1900" dirty="0"/>
          </a:p>
          <a:p>
            <a:pPr marL="342900" indent="-342900">
              <a:buSzPct val="100000"/>
              <a:buChar char="•"/>
            </a:pPr>
            <a:r>
              <a:rPr lang="en-US" sz="19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can be searched honestly: its data fits an index that actually works.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937760"/>
            <a:ext cx="6766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2400" b="1" dirty="0">
                <a:solidFill>
                  <a:srgbClr val="A33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honest part, before the results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paper stores the four fingerprints inside each mint transaction on the blockchain. They fit easily. ORB does not.</a:t>
            </a:r>
            <a:endParaRPr lang="en-US" sz="1900" dirty="0"/>
          </a:p>
        </p:txBody>
      </p:sp>
      <p:pic>
        <p:nvPicPr>
          <p:cNvPr id="20" name="Storage chart" descr="F1 versus bytes stored per image: sHash at about 32 bytes, one mint transaction at 300 to 500 bytes, ORB from 1,024 bytes (32 landmarks, F1 76.1) to 14,560 bytes (455 landmarks, F1 90.8).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366760" y="2377440"/>
            <a:ext cx="7159000" cy="4688761"/>
          </a:xfrm>
          <a:prstGeom prst="rect">
            <a:avLst/>
          </a:prstGeom>
        </p:spPr>
      </p:pic>
      <p:sp>
        <p:nvSpPr>
          <p:cNvPr id="12" name="Shape 10"/>
          <p:cNvSpPr/>
          <p:nvPr/>
        </p:nvSpPr>
        <p:spPr>
          <a:xfrm>
            <a:off x="731520" y="7223760"/>
            <a:ext cx="14794992" cy="1188720"/>
          </a:xfrm>
          <a:prstGeom prst="rect">
            <a:avLst/>
          </a:prstGeom>
          <a:solidFill>
            <a:srgbClr val="FFFFFF"/>
          </a:solidFill>
          <a:ln w="15875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3" name="Text 11"/>
          <p:cNvSpPr txBox="1"/>
          <p:nvPr/>
        </p:nvSpPr>
        <p:spPr>
          <a:xfrm>
            <a:off x="960120" y="7315200"/>
            <a:ext cx="143377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measured the whole size-versus-accuracy curve. Shrink ORB and the best usable point (3.9 KB) is still about 10 whole transactions — so we report this as a finding, not a footnote.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14977872" y="85953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502920"/>
            <a:ext cx="147949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…and What It Costs in Time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325880"/>
            <a:ext cx="14794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timed the two jobs both signals do: fingerprint a new image, and compare two images.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286000"/>
            <a:ext cx="6766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400"/>
              </a:spcAft>
              <a:buNone/>
            </a:pPr>
            <a:r>
              <a:rPr lang="en-US" sz="24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Making a fingerprint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the same: ORB 0.9 ms (0.7 ms at 128 landmarks), sHash 1.5 ms.</a:t>
            </a:r>
            <a:endParaRPr lang="en-US" sz="1900" dirty="0"/>
          </a:p>
          <a:p>
            <a:pPr marL="342900" indent="-342900">
              <a:buSzPct val="100000"/>
              <a:buChar char="•"/>
            </a:pPr>
            <a:r>
              <a:rPr lang="en-US" sz="19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timed as compiled code, on one core.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937760"/>
            <a:ext cx="6766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2400" b="1" dirty="0">
                <a:solidFill>
                  <a:srgbClr val="A33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Comparing two images: the real gap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ORB ≈ 34 ms: match the landmarks, then RANSAC, for 4 mirror versions; still 24 ms at 128 landmarks. sHash ≈ 0.1 µs: a few bit counts.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731520" y="7223760"/>
            <a:ext cx="14794992" cy="1188720"/>
          </a:xfrm>
          <a:prstGeom prst="rect">
            <a:avLst/>
          </a:prstGeom>
          <a:solidFill>
            <a:srgbClr val="FFFFFF"/>
          </a:solidFill>
          <a:ln w="15875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3" name="Text 11"/>
          <p:cNvSpPr txBox="1"/>
          <p:nvPr/>
        </p:nvSpPr>
        <p:spPr>
          <a:xfrm>
            <a:off x="960120" y="7315200"/>
            <a:ext cx="143377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Compiled code on both sides. The paper's Python library, as used, takes 68 ms and 11 µs: it mixes languages, so we timed sHash in C too. At ≈ 34 ms a pair, ORB needs an index (LSH) to scale.</a:t>
            </a:r>
            <a:endParaRPr lang="en-US" sz="1800" dirty="0"/>
          </a:p>
        </p:txBody>
      </p:sp>
      <p:pic>
        <p:nvPicPr>
          <p:cNvPr id="14" name="Time chart" descr="slide10_time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4710" y="2312739"/>
            <a:ext cx="6443100" cy="444306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5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4977872" y="85953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502920"/>
            <a:ext cx="147949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Main Stages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3489350" y="2468880"/>
            <a:ext cx="214884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8A8F98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8" name="Text 6"/>
          <p:cNvSpPr txBox="1"/>
          <p:nvPr/>
        </p:nvSpPr>
        <p:spPr>
          <a:xfrm>
            <a:off x="3717950" y="2560320"/>
            <a:ext cx="1691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ORB</a:t>
            </a:r>
          </a:p>
        </p:txBody>
      </p:sp>
      <p:sp>
        <p:nvSpPr>
          <p:cNvPr id="9" name="Shape 7"/>
          <p:cNvSpPr/>
          <p:nvPr/>
        </p:nvSpPr>
        <p:spPr>
          <a:xfrm flipH="1">
            <a:off x="4535216" y="4206240"/>
            <a:ext cx="0" cy="691581"/>
          </a:xfrm>
          <a:prstGeom prst="line">
            <a:avLst/>
          </a:prstGeom>
          <a:noFill/>
          <a:ln w="19050">
            <a:solidFill>
              <a:srgbClr val="8A8F98"/>
            </a:solidFill>
            <a:prstDash val="solid"/>
            <a:tailEnd type="triangle"/>
          </a:ln>
        </p:spPr>
        <p:txBody>
          <a:bodyPr/>
          <a:lstStyle/>
          <a:p>
            <a:endParaRPr lang="en-IL"/>
          </a:p>
        </p:txBody>
      </p:sp>
      <p:sp>
        <p:nvSpPr>
          <p:cNvPr id="10" name="Shape 8"/>
          <p:cNvSpPr/>
          <p:nvPr/>
        </p:nvSpPr>
        <p:spPr>
          <a:xfrm>
            <a:off x="7055518" y="2468879"/>
            <a:ext cx="214884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8A8F98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1" name="Text 9"/>
          <p:cNvSpPr txBox="1"/>
          <p:nvPr/>
        </p:nvSpPr>
        <p:spPr>
          <a:xfrm>
            <a:off x="7282974" y="2575875"/>
            <a:ext cx="1691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LSH</a:t>
            </a:r>
          </a:p>
        </p:txBody>
      </p:sp>
      <p:sp>
        <p:nvSpPr>
          <p:cNvPr id="13" name="Shape 11"/>
          <p:cNvSpPr/>
          <p:nvPr/>
        </p:nvSpPr>
        <p:spPr>
          <a:xfrm>
            <a:off x="10619398" y="2468880"/>
            <a:ext cx="214884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8A8F98"/>
            </a:solidFill>
            <a:prstDash val="solid"/>
          </a:ln>
        </p:spPr>
        <p:txBody>
          <a:bodyPr/>
          <a:lstStyle/>
          <a:p>
            <a:endParaRPr lang="en-IL" dirty="0"/>
          </a:p>
        </p:txBody>
      </p:sp>
      <p:sp>
        <p:nvSpPr>
          <p:cNvPr id="14" name="Text 12"/>
          <p:cNvSpPr txBox="1"/>
          <p:nvPr/>
        </p:nvSpPr>
        <p:spPr>
          <a:xfrm>
            <a:off x="10901168" y="2586647"/>
            <a:ext cx="1691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RANSAC</a:t>
            </a:r>
          </a:p>
        </p:txBody>
      </p:sp>
      <p:sp>
        <p:nvSpPr>
          <p:cNvPr id="17" name="Text 15"/>
          <p:cNvSpPr txBox="1"/>
          <p:nvPr/>
        </p:nvSpPr>
        <p:spPr>
          <a:xfrm>
            <a:off x="14183278" y="3150737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2B2B2B"/>
                </a:solidFill>
                <a:latin typeface="Arial" pitchFamily="34" charset="0"/>
                <a:cs typeface="Arial" pitchFamily="34" charset="-120"/>
              </a:rPr>
              <a:t>The number of relevant matches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3744751" y="4941703"/>
            <a:ext cx="1664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</a:t>
            </a:r>
            <a:r>
              <a:rPr lang="en-US" sz="2000" dirty="0" err="1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keypoints</a:t>
            </a:r>
            <a:endParaRPr lang="en-US" sz="1800" dirty="0"/>
          </a:p>
        </p:txBody>
      </p:sp>
      <p:sp>
        <p:nvSpPr>
          <p:cNvPr id="36" name="Text 34"/>
          <p:cNvSpPr txBox="1"/>
          <p:nvPr/>
        </p:nvSpPr>
        <p:spPr>
          <a:xfrm>
            <a:off x="731520" y="7589520"/>
            <a:ext cx="14794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700" dirty="0"/>
          </a:p>
        </p:txBody>
      </p:sp>
      <p:sp>
        <p:nvSpPr>
          <p:cNvPr id="37" name="Flowchart: Internal Storage 36">
            <a:extLst>
              <a:ext uri="{FF2B5EF4-FFF2-40B4-BE49-F238E27FC236}">
                <a16:creationId xmlns:a16="http://schemas.microsoft.com/office/drawing/2014/main" id="{18C11323-AB00-488A-80F6-DA2DC1A1AE80}"/>
              </a:ext>
            </a:extLst>
          </p:cNvPr>
          <p:cNvSpPr/>
          <p:nvPr/>
        </p:nvSpPr>
        <p:spPr>
          <a:xfrm>
            <a:off x="1045675" y="2837320"/>
            <a:ext cx="1127655" cy="1053137"/>
          </a:xfrm>
          <a:prstGeom prst="flowChartInternalStorage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5" name="Text 3"/>
          <p:cNvSpPr txBox="1"/>
          <p:nvPr/>
        </p:nvSpPr>
        <p:spPr>
          <a:xfrm>
            <a:off x="1134729" y="2906687"/>
            <a:ext cx="1047356" cy="9144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Image</a:t>
            </a:r>
            <a:endParaRPr lang="en-US" sz="1600" dirty="0"/>
          </a:p>
        </p:txBody>
      </p:sp>
      <p:sp>
        <p:nvSpPr>
          <p:cNvPr id="41" name="Arrow: Right 40">
            <a:extLst>
              <a:ext uri="{FF2B5EF4-FFF2-40B4-BE49-F238E27FC236}">
                <a16:creationId xmlns:a16="http://schemas.microsoft.com/office/drawing/2014/main" id="{95EBE276-B235-4FD3-B51F-6DF8D9CC6A5C}"/>
              </a:ext>
            </a:extLst>
          </p:cNvPr>
          <p:cNvSpPr/>
          <p:nvPr/>
        </p:nvSpPr>
        <p:spPr>
          <a:xfrm>
            <a:off x="2321670" y="3221158"/>
            <a:ext cx="978408" cy="232804"/>
          </a:xfrm>
          <a:prstGeom prst="rightArrow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42" name="Text 19">
            <a:extLst>
              <a:ext uri="{FF2B5EF4-FFF2-40B4-BE49-F238E27FC236}">
                <a16:creationId xmlns:a16="http://schemas.microsoft.com/office/drawing/2014/main" id="{FBAD5A32-5A7A-4136-9621-118BD86AEBED}"/>
              </a:ext>
            </a:extLst>
          </p:cNvPr>
          <p:cNvSpPr txBox="1"/>
          <p:nvPr/>
        </p:nvSpPr>
        <p:spPr>
          <a:xfrm>
            <a:off x="7296374" y="4917790"/>
            <a:ext cx="1664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matches</a:t>
            </a:r>
            <a:endParaRPr lang="en-US" sz="1800" dirty="0"/>
          </a:p>
        </p:txBody>
      </p:sp>
      <p:sp>
        <p:nvSpPr>
          <p:cNvPr id="43" name="Text 19">
            <a:extLst>
              <a:ext uri="{FF2B5EF4-FFF2-40B4-BE49-F238E27FC236}">
                <a16:creationId xmlns:a16="http://schemas.microsoft.com/office/drawing/2014/main" id="{B6A530F3-F819-4AE5-847E-385318A2829F}"/>
              </a:ext>
            </a:extLst>
          </p:cNvPr>
          <p:cNvSpPr txBox="1"/>
          <p:nvPr/>
        </p:nvSpPr>
        <p:spPr>
          <a:xfrm>
            <a:off x="10608066" y="5054425"/>
            <a:ext cx="22778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2B2B2B"/>
                </a:solidFill>
                <a:latin typeface="Arial" pitchFamily="34" charset="0"/>
                <a:cs typeface="Arial" pitchFamily="34" charset="-120"/>
              </a:rPr>
              <a:t>exclude irrelevant matches</a:t>
            </a:r>
            <a:endParaRPr lang="en-US" sz="1800" dirty="0"/>
          </a:p>
        </p:txBody>
      </p:sp>
      <p:sp>
        <p:nvSpPr>
          <p:cNvPr id="44" name="Shape 7">
            <a:extLst>
              <a:ext uri="{FF2B5EF4-FFF2-40B4-BE49-F238E27FC236}">
                <a16:creationId xmlns:a16="http://schemas.microsoft.com/office/drawing/2014/main" id="{767F0AD1-B937-483C-BF29-5738BF56A0D3}"/>
              </a:ext>
            </a:extLst>
          </p:cNvPr>
          <p:cNvSpPr/>
          <p:nvPr/>
        </p:nvSpPr>
        <p:spPr>
          <a:xfrm flipH="1">
            <a:off x="8128794" y="4226209"/>
            <a:ext cx="0" cy="691581"/>
          </a:xfrm>
          <a:prstGeom prst="line">
            <a:avLst/>
          </a:prstGeom>
          <a:noFill/>
          <a:ln w="19050">
            <a:solidFill>
              <a:srgbClr val="8A8F98"/>
            </a:solidFill>
            <a:prstDash val="solid"/>
            <a:tailEnd type="triangle"/>
          </a:ln>
        </p:spPr>
        <p:txBody>
          <a:bodyPr/>
          <a:lstStyle/>
          <a:p>
            <a:endParaRPr lang="en-IL"/>
          </a:p>
        </p:txBody>
      </p:sp>
      <p:sp>
        <p:nvSpPr>
          <p:cNvPr id="45" name="Shape 7">
            <a:extLst>
              <a:ext uri="{FF2B5EF4-FFF2-40B4-BE49-F238E27FC236}">
                <a16:creationId xmlns:a16="http://schemas.microsoft.com/office/drawing/2014/main" id="{FB96895B-4252-4081-87B3-216B289B26B1}"/>
              </a:ext>
            </a:extLst>
          </p:cNvPr>
          <p:cNvSpPr/>
          <p:nvPr/>
        </p:nvSpPr>
        <p:spPr>
          <a:xfrm flipH="1">
            <a:off x="11693818" y="4283754"/>
            <a:ext cx="0" cy="691581"/>
          </a:xfrm>
          <a:prstGeom prst="line">
            <a:avLst/>
          </a:prstGeom>
          <a:noFill/>
          <a:ln w="19050">
            <a:solidFill>
              <a:srgbClr val="8A8F98"/>
            </a:solidFill>
            <a:prstDash val="solid"/>
            <a:tailEnd type="triangle"/>
          </a:ln>
        </p:spPr>
        <p:txBody>
          <a:bodyPr/>
          <a:lstStyle/>
          <a:p>
            <a:endParaRPr lang="en-IL"/>
          </a:p>
        </p:txBody>
      </p:sp>
      <p:sp>
        <p:nvSpPr>
          <p:cNvPr id="46" name="Arrow: Right 45">
            <a:extLst>
              <a:ext uri="{FF2B5EF4-FFF2-40B4-BE49-F238E27FC236}">
                <a16:creationId xmlns:a16="http://schemas.microsoft.com/office/drawing/2014/main" id="{FB55291A-47D6-4760-B981-0B2C4C04800B}"/>
              </a:ext>
            </a:extLst>
          </p:cNvPr>
          <p:cNvSpPr/>
          <p:nvPr/>
        </p:nvSpPr>
        <p:spPr>
          <a:xfrm>
            <a:off x="5883972" y="3221158"/>
            <a:ext cx="978408" cy="232804"/>
          </a:xfrm>
          <a:prstGeom prst="rightArrow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47" name="Arrow: Right 46">
            <a:extLst>
              <a:ext uri="{FF2B5EF4-FFF2-40B4-BE49-F238E27FC236}">
                <a16:creationId xmlns:a16="http://schemas.microsoft.com/office/drawing/2014/main" id="{27336E87-4078-4C60-AEF7-61E7B1F9175B}"/>
              </a:ext>
            </a:extLst>
          </p:cNvPr>
          <p:cNvSpPr/>
          <p:nvPr/>
        </p:nvSpPr>
        <p:spPr>
          <a:xfrm>
            <a:off x="9441577" y="3221158"/>
            <a:ext cx="978408" cy="232804"/>
          </a:xfrm>
          <a:prstGeom prst="rightArrow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48" name="Arrow: Right 47">
            <a:extLst>
              <a:ext uri="{FF2B5EF4-FFF2-40B4-BE49-F238E27FC236}">
                <a16:creationId xmlns:a16="http://schemas.microsoft.com/office/drawing/2014/main" id="{644B57BE-38D5-4C19-AB9C-3842784B0CFC}"/>
              </a:ext>
            </a:extLst>
          </p:cNvPr>
          <p:cNvSpPr/>
          <p:nvPr/>
        </p:nvSpPr>
        <p:spPr>
          <a:xfrm>
            <a:off x="13012164" y="3236713"/>
            <a:ext cx="978408" cy="232804"/>
          </a:xfrm>
          <a:prstGeom prst="rightArrow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534666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5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4977872" y="85953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502920"/>
            <a:ext cx="147949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 — Find Landmarks, and Match Them</a:t>
            </a:r>
            <a:endParaRPr lang="en-US" sz="4400" dirty="0"/>
          </a:p>
        </p:txBody>
      </p:sp>
      <p:pic>
        <p:nvPicPr>
          <p:cNvPr id="4" name="Image 0" descr="/private/tmp/claude-501/-Users-rabeayassin-Developer-nft-dup-heuristic-router/228e9e47-9c60-421c-ac33-6b72f93e74ff/scratchpad/build/orb_match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103120"/>
            <a:ext cx="9509760" cy="4661647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6810487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output from our code. Every green line is one landmark matched between the two images.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10607040" y="2103120"/>
            <a:ext cx="4919472" cy="6035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the corners</a:t>
            </a:r>
            <a:endParaRPr lang="en-US" sz="1700" dirty="0"/>
          </a:p>
          <a:p>
            <a:pPr marL="0" indent="0">
              <a:spcAft>
                <a:spcPts val="2000"/>
              </a:spcAft>
              <a:buNone/>
            </a:pPr>
            <a:r>
              <a:rPr lang="en-US" sz="17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ORB looks for spots it can find again after an edit — corners and sharp junctions. A few hundred per image.</a:t>
            </a:r>
            <a:endParaRPr lang="en-US" sz="17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each one</a:t>
            </a:r>
            <a:endParaRPr lang="en-US" sz="1700" dirty="0"/>
          </a:p>
          <a:p>
            <a:pPr marL="0" indent="0">
              <a:spcAft>
                <a:spcPts val="2000"/>
              </a:spcAft>
              <a:buNone/>
            </a:pPr>
            <a:r>
              <a:rPr lang="en-US" sz="17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corner gets a short description of its surroundings, plus a direction — which is what makes it survive rotation.</a:t>
            </a:r>
            <a:endParaRPr lang="en-US" sz="17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them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every landmark in one image, find the closest one in the other.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5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4977872" y="85953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502920"/>
            <a:ext cx="147949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 — Searching a Whole Collection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325880"/>
            <a:ext cx="14794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real system you check a new mint against thousands of images. You can't compare it to every one.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3657600"/>
            <a:ext cx="210312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8A8F98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Text 4"/>
          <p:cNvSpPr txBox="1"/>
          <p:nvPr/>
        </p:nvSpPr>
        <p:spPr>
          <a:xfrm>
            <a:off x="960120" y="374904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image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0" y="2651760"/>
            <a:ext cx="3017520" cy="3383280"/>
          </a:xfrm>
          <a:prstGeom prst="rect">
            <a:avLst/>
          </a:prstGeom>
          <a:solidFill>
            <a:srgbClr val="F0ECE2"/>
          </a:solidFill>
          <a:ln w="12700">
            <a:solidFill>
              <a:srgbClr val="F0ECE2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8" name="Text 6"/>
          <p:cNvSpPr txBox="1"/>
          <p:nvPr/>
        </p:nvSpPr>
        <p:spPr>
          <a:xfrm>
            <a:off x="3657600" y="27889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buckets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977640" y="3337560"/>
            <a:ext cx="2377440" cy="594360"/>
          </a:xfrm>
          <a:prstGeom prst="rect">
            <a:avLst/>
          </a:prstGeom>
          <a:solidFill>
            <a:srgbClr val="FFFFFF"/>
          </a:solidFill>
          <a:ln w="15875">
            <a:solidFill>
              <a:srgbClr val="8A8F98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0" name="Shape 8"/>
          <p:cNvSpPr/>
          <p:nvPr/>
        </p:nvSpPr>
        <p:spPr>
          <a:xfrm>
            <a:off x="3977640" y="4160520"/>
            <a:ext cx="2377440" cy="594360"/>
          </a:xfrm>
          <a:prstGeom prst="rect">
            <a:avLst/>
          </a:prstGeom>
          <a:solidFill>
            <a:srgbClr val="FFFFFF"/>
          </a:solidFill>
          <a:ln w="25400">
            <a:solidFill>
              <a:srgbClr val="1A5FB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1" name="Shape 9"/>
          <p:cNvSpPr/>
          <p:nvPr/>
        </p:nvSpPr>
        <p:spPr>
          <a:xfrm>
            <a:off x="3977640" y="4983480"/>
            <a:ext cx="2377440" cy="594360"/>
          </a:xfrm>
          <a:prstGeom prst="rect">
            <a:avLst/>
          </a:prstGeom>
          <a:solidFill>
            <a:srgbClr val="FFFFFF"/>
          </a:solidFill>
          <a:ln w="15875">
            <a:solidFill>
              <a:srgbClr val="8A8F98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2" name="Shape 10"/>
          <p:cNvSpPr/>
          <p:nvPr/>
        </p:nvSpPr>
        <p:spPr>
          <a:xfrm>
            <a:off x="7498080" y="3657600"/>
            <a:ext cx="237744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8A8F98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3" name="Text 11"/>
          <p:cNvSpPr txBox="1"/>
          <p:nvPr/>
        </p:nvSpPr>
        <p:spPr>
          <a:xfrm>
            <a:off x="7726680" y="374904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 list</a:t>
            </a:r>
            <a:endParaRPr lang="en-US" sz="16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handful of candidates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698480" y="3657600"/>
            <a:ext cx="237744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8A8F98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5" name="Text 13"/>
          <p:cNvSpPr txBox="1"/>
          <p:nvPr/>
        </p:nvSpPr>
        <p:spPr>
          <a:xfrm>
            <a:off x="10927080" y="374904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RANSAC check</a:t>
            </a:r>
            <a:endParaRPr lang="en-US" sz="16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3898880" y="3657600"/>
            <a:ext cx="1645920" cy="1371600"/>
          </a:xfrm>
          <a:prstGeom prst="rect">
            <a:avLst/>
          </a:prstGeom>
          <a:solidFill>
            <a:srgbClr val="FFFFFF"/>
          </a:solidFill>
          <a:ln w="31750">
            <a:solidFill>
              <a:srgbClr val="1A5FB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7" name="Text 15"/>
          <p:cNvSpPr txBox="1"/>
          <p:nvPr/>
        </p:nvSpPr>
        <p:spPr>
          <a:xfrm>
            <a:off x="14127480" y="374904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5F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verdict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2834640" y="4343400"/>
            <a:ext cx="822960" cy="0"/>
          </a:xfrm>
          <a:prstGeom prst="line">
            <a:avLst/>
          </a:prstGeom>
          <a:noFill/>
          <a:ln w="19050">
            <a:solidFill>
              <a:srgbClr val="8A8F98"/>
            </a:solidFill>
            <a:prstDash val="solid"/>
            <a:tailEnd type="triangle"/>
          </a:ln>
        </p:spPr>
        <p:txBody>
          <a:bodyPr/>
          <a:lstStyle/>
          <a:p>
            <a:endParaRPr lang="en-IL"/>
          </a:p>
        </p:txBody>
      </p:sp>
      <p:sp>
        <p:nvSpPr>
          <p:cNvPr id="19" name="Shape 17"/>
          <p:cNvSpPr/>
          <p:nvPr/>
        </p:nvSpPr>
        <p:spPr>
          <a:xfrm>
            <a:off x="6675120" y="4343400"/>
            <a:ext cx="822960" cy="0"/>
          </a:xfrm>
          <a:prstGeom prst="line">
            <a:avLst/>
          </a:prstGeom>
          <a:noFill/>
          <a:ln w="19050">
            <a:solidFill>
              <a:srgbClr val="8A8F98"/>
            </a:solidFill>
            <a:prstDash val="solid"/>
            <a:tailEnd type="triangle"/>
          </a:ln>
        </p:spPr>
        <p:txBody>
          <a:bodyPr/>
          <a:lstStyle/>
          <a:p>
            <a:endParaRPr lang="en-IL"/>
          </a:p>
        </p:txBody>
      </p:sp>
      <p:sp>
        <p:nvSpPr>
          <p:cNvPr id="20" name="Shape 18"/>
          <p:cNvSpPr/>
          <p:nvPr/>
        </p:nvSpPr>
        <p:spPr>
          <a:xfrm>
            <a:off x="9875520" y="4343400"/>
            <a:ext cx="822960" cy="0"/>
          </a:xfrm>
          <a:prstGeom prst="line">
            <a:avLst/>
          </a:prstGeom>
          <a:noFill/>
          <a:ln w="19050">
            <a:solidFill>
              <a:srgbClr val="8A8F98"/>
            </a:solidFill>
            <a:prstDash val="solid"/>
            <a:tailEnd type="triangle"/>
          </a:ln>
        </p:spPr>
        <p:txBody>
          <a:bodyPr/>
          <a:lstStyle/>
          <a:p>
            <a:endParaRPr lang="en-IL"/>
          </a:p>
        </p:txBody>
      </p:sp>
      <p:sp>
        <p:nvSpPr>
          <p:cNvPr id="21" name="Shape 19"/>
          <p:cNvSpPr/>
          <p:nvPr/>
        </p:nvSpPr>
        <p:spPr>
          <a:xfrm>
            <a:off x="13075920" y="4343400"/>
            <a:ext cx="822960" cy="0"/>
          </a:xfrm>
          <a:prstGeom prst="line">
            <a:avLst/>
          </a:prstGeom>
          <a:noFill/>
          <a:ln w="19050">
            <a:solidFill>
              <a:srgbClr val="8A8F98"/>
            </a:solidFill>
            <a:prstDash val="solid"/>
            <a:tailEnd type="triangle"/>
          </a:ln>
        </p:spPr>
        <p:txBody>
          <a:bodyPr/>
          <a:lstStyle/>
          <a:p>
            <a:endParaRPr lang="en-IL"/>
          </a:p>
        </p:txBody>
      </p:sp>
      <p:sp>
        <p:nvSpPr>
          <p:cNvPr id="22" name="Text 20"/>
          <p:cNvSpPr txBox="1"/>
          <p:nvPr/>
        </p:nvSpPr>
        <p:spPr>
          <a:xfrm>
            <a:off x="3108960" y="617220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 landmarks land in the same bucket, so you only look at plausible candidates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731520" y="7223760"/>
            <a:ext cx="14794992" cy="1188720"/>
          </a:xfrm>
          <a:prstGeom prst="rect">
            <a:avLst/>
          </a:prstGeom>
          <a:solidFill>
            <a:srgbClr val="FFFFFF"/>
          </a:solidFill>
          <a:ln w="15875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4" name="Text 22"/>
          <p:cNvSpPr txBox="1"/>
          <p:nvPr/>
        </p:nvSpPr>
        <p:spPr>
          <a:xfrm>
            <a:off x="960120" y="7315200"/>
            <a:ext cx="143377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Worth saying: </a:t>
            </a:r>
            <a:r>
              <a:rPr lang="en-US" sz="18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accuracy number in this talk compares two images directly, with no index involved — so none of the accuracy comes from this step.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5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4977872" y="85953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502920"/>
            <a:ext cx="147949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3 — Throw Out the Coincidences</a:t>
            </a:r>
            <a:endParaRPr lang="en-US" sz="4400" dirty="0"/>
          </a:p>
        </p:txBody>
      </p:sp>
      <p:pic>
        <p:nvPicPr>
          <p:cNvPr id="4" name="Image 0" descr="/private/tmp/claude-501/-Users-rabeayassin-Developer-nft-dup-heuristic-router/228e9e47-9c60-421c-ac33-6b72f93e74ff/scratchpad/build/orb_match_rotate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103120"/>
            <a:ext cx="9509760" cy="4661647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6810487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artwork, one copy rotated. 204 landmarks agree on a single rotation.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10607040" y="2103120"/>
            <a:ext cx="4919472" cy="6035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Plenty of those matches are junk</a:t>
            </a:r>
            <a:endParaRPr lang="en-US" sz="1700" dirty="0"/>
          </a:p>
          <a:p>
            <a:pPr marL="0" indent="0">
              <a:spcAft>
                <a:spcPts val="2000"/>
              </a:spcAft>
              <a:buNone/>
            </a:pPr>
            <a:r>
              <a:rPr lang="en-US" sz="17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Coincidental matches point in every direction. Real ones all tell the same story: rotate this much, shift this much.</a:t>
            </a:r>
            <a:endParaRPr lang="en-US" sz="17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RANSAC finds that one story</a:t>
            </a:r>
            <a:endParaRPr lang="en-US" sz="1700" dirty="0"/>
          </a:p>
          <a:p>
            <a:pPr marL="0" indent="0">
              <a:spcAft>
                <a:spcPts val="2000"/>
              </a:spcAft>
              <a:buNone/>
            </a:pPr>
            <a:r>
              <a:rPr lang="en-US" sz="17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looks for the single transformation that the most matches agree on, and discards the rest.</a:t>
            </a:r>
            <a:endParaRPr lang="en-US" sz="17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A5F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many agree is our score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cutoff: more than 16 agreeing matches. Hundreds of landmarks independently agreeing does not happen by chance.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5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4977872" y="85953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502920"/>
            <a:ext cx="147949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Pipeline, End to End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731520" y="2468880"/>
            <a:ext cx="214884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8A8F98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" name="Text 3"/>
          <p:cNvSpPr txBox="1"/>
          <p:nvPr/>
        </p:nvSpPr>
        <p:spPr>
          <a:xfrm>
            <a:off x="960120" y="2560320"/>
            <a:ext cx="1691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images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880360" y="3337560"/>
            <a:ext cx="380390" cy="0"/>
          </a:xfrm>
          <a:prstGeom prst="line">
            <a:avLst/>
          </a:prstGeom>
          <a:noFill/>
          <a:ln w="19050">
            <a:solidFill>
              <a:srgbClr val="8A8F98"/>
            </a:solidFill>
            <a:prstDash val="solid"/>
            <a:tailEnd type="triangle"/>
          </a:ln>
        </p:spPr>
        <p:txBody>
          <a:bodyPr/>
          <a:lstStyle/>
          <a:p>
            <a:endParaRPr lang="en-IL"/>
          </a:p>
        </p:txBody>
      </p:sp>
      <p:sp>
        <p:nvSpPr>
          <p:cNvPr id="7" name="Shape 5"/>
          <p:cNvSpPr/>
          <p:nvPr/>
        </p:nvSpPr>
        <p:spPr>
          <a:xfrm>
            <a:off x="3260750" y="2468880"/>
            <a:ext cx="214884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8A8F98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8" name="Text 6"/>
          <p:cNvSpPr txBox="1"/>
          <p:nvPr/>
        </p:nvSpPr>
        <p:spPr>
          <a:xfrm>
            <a:off x="3489350" y="2560320"/>
            <a:ext cx="1691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landmarks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09590" y="3337560"/>
            <a:ext cx="380390" cy="0"/>
          </a:xfrm>
          <a:prstGeom prst="line">
            <a:avLst/>
          </a:prstGeom>
          <a:noFill/>
          <a:ln w="19050">
            <a:solidFill>
              <a:srgbClr val="8A8F98"/>
            </a:solidFill>
            <a:prstDash val="solid"/>
            <a:tailEnd type="triangle"/>
          </a:ln>
        </p:spPr>
        <p:txBody>
          <a:bodyPr/>
          <a:lstStyle/>
          <a:p>
            <a:endParaRPr lang="en-IL"/>
          </a:p>
        </p:txBody>
      </p:sp>
      <p:sp>
        <p:nvSpPr>
          <p:cNvPr id="10" name="Shape 8"/>
          <p:cNvSpPr/>
          <p:nvPr/>
        </p:nvSpPr>
        <p:spPr>
          <a:xfrm>
            <a:off x="5789981" y="2468880"/>
            <a:ext cx="214884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8A8F98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1" name="Text 9"/>
          <p:cNvSpPr txBox="1"/>
          <p:nvPr/>
        </p:nvSpPr>
        <p:spPr>
          <a:xfrm>
            <a:off x="6018581" y="2560320"/>
            <a:ext cx="1691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them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938821" y="3337560"/>
            <a:ext cx="380390" cy="0"/>
          </a:xfrm>
          <a:prstGeom prst="line">
            <a:avLst/>
          </a:prstGeom>
          <a:noFill/>
          <a:ln w="19050">
            <a:solidFill>
              <a:srgbClr val="8A8F98"/>
            </a:solidFill>
            <a:prstDash val="solid"/>
            <a:tailEnd type="triangle"/>
          </a:ln>
        </p:spPr>
        <p:txBody>
          <a:bodyPr/>
          <a:lstStyle/>
          <a:p>
            <a:endParaRPr lang="en-IL"/>
          </a:p>
        </p:txBody>
      </p:sp>
      <p:sp>
        <p:nvSpPr>
          <p:cNvPr id="13" name="Shape 11"/>
          <p:cNvSpPr/>
          <p:nvPr/>
        </p:nvSpPr>
        <p:spPr>
          <a:xfrm>
            <a:off x="8319211" y="2468880"/>
            <a:ext cx="214884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8A8F98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4" name="Text 12"/>
          <p:cNvSpPr txBox="1"/>
          <p:nvPr/>
        </p:nvSpPr>
        <p:spPr>
          <a:xfrm>
            <a:off x="8547811" y="2560320"/>
            <a:ext cx="1691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RANSAC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468051" y="3337560"/>
            <a:ext cx="380390" cy="0"/>
          </a:xfrm>
          <a:prstGeom prst="line">
            <a:avLst/>
          </a:prstGeom>
          <a:noFill/>
          <a:ln w="19050">
            <a:solidFill>
              <a:srgbClr val="8A8F98"/>
            </a:solidFill>
            <a:prstDash val="solid"/>
            <a:tailEnd type="triangle"/>
          </a:ln>
        </p:spPr>
        <p:txBody>
          <a:bodyPr/>
          <a:lstStyle/>
          <a:p>
            <a:endParaRPr lang="en-IL"/>
          </a:p>
        </p:txBody>
      </p:sp>
      <p:sp>
        <p:nvSpPr>
          <p:cNvPr id="16" name="Shape 14"/>
          <p:cNvSpPr/>
          <p:nvPr/>
        </p:nvSpPr>
        <p:spPr>
          <a:xfrm>
            <a:off x="10848442" y="2468880"/>
            <a:ext cx="214884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8A8F98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7" name="Text 15"/>
          <p:cNvSpPr txBox="1"/>
          <p:nvPr/>
        </p:nvSpPr>
        <p:spPr>
          <a:xfrm>
            <a:off x="11077042" y="2560320"/>
            <a:ext cx="1691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 the agreeing matches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2997282" y="3337560"/>
            <a:ext cx="380390" cy="0"/>
          </a:xfrm>
          <a:prstGeom prst="line">
            <a:avLst/>
          </a:prstGeom>
          <a:noFill/>
          <a:ln w="19050">
            <a:solidFill>
              <a:srgbClr val="8A8F98"/>
            </a:solidFill>
            <a:prstDash val="solid"/>
            <a:tailEnd type="triangle"/>
          </a:ln>
        </p:spPr>
        <p:txBody>
          <a:bodyPr/>
          <a:lstStyle/>
          <a:p>
            <a:endParaRPr lang="en-IL"/>
          </a:p>
        </p:txBody>
      </p:sp>
      <p:sp>
        <p:nvSpPr>
          <p:cNvPr id="19" name="Shape 17"/>
          <p:cNvSpPr/>
          <p:nvPr/>
        </p:nvSpPr>
        <p:spPr>
          <a:xfrm>
            <a:off x="13377672" y="2468880"/>
            <a:ext cx="2148840" cy="1737360"/>
          </a:xfrm>
          <a:prstGeom prst="rect">
            <a:avLst/>
          </a:prstGeom>
          <a:solidFill>
            <a:srgbClr val="FFFFFF"/>
          </a:solidFill>
          <a:ln w="31750">
            <a:solidFill>
              <a:srgbClr val="1A5FB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0" name="Text 18"/>
          <p:cNvSpPr txBox="1"/>
          <p:nvPr/>
        </p:nvSpPr>
        <p:spPr>
          <a:xfrm>
            <a:off x="13606272" y="2560320"/>
            <a:ext cx="1691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A5F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 / not a copy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31520" y="4937760"/>
            <a:ext cx="14794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where it sits in the paper's system — same design, same rule, one signal replaced:</a:t>
            </a:r>
            <a:endParaRPr lang="en-US" sz="1900" dirty="0"/>
          </a:p>
        </p:txBody>
      </p:sp>
      <p:sp>
        <p:nvSpPr>
          <p:cNvPr id="22" name="Shape 20"/>
          <p:cNvSpPr/>
          <p:nvPr/>
        </p:nvSpPr>
        <p:spPr>
          <a:xfrm>
            <a:off x="731520" y="5852160"/>
            <a:ext cx="228600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8A8F98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3" name="Text 21"/>
          <p:cNvSpPr txBox="1"/>
          <p:nvPr/>
        </p:nvSpPr>
        <p:spPr>
          <a:xfrm>
            <a:off x="960120" y="594360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aHash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017520" y="6446520"/>
            <a:ext cx="411480" cy="0"/>
          </a:xfrm>
          <a:prstGeom prst="line">
            <a:avLst/>
          </a:prstGeom>
          <a:noFill/>
          <a:ln w="19050">
            <a:solidFill>
              <a:srgbClr val="8A8F98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5" name="Shape 23"/>
          <p:cNvSpPr/>
          <p:nvPr/>
        </p:nvSpPr>
        <p:spPr>
          <a:xfrm>
            <a:off x="3429000" y="5852160"/>
            <a:ext cx="228600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8A8F98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6" name="Text 24"/>
          <p:cNvSpPr txBox="1"/>
          <p:nvPr/>
        </p:nvSpPr>
        <p:spPr>
          <a:xfrm>
            <a:off x="3657600" y="594360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pHash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715000" y="6446520"/>
            <a:ext cx="411480" cy="0"/>
          </a:xfrm>
          <a:prstGeom prst="line">
            <a:avLst/>
          </a:prstGeom>
          <a:noFill/>
          <a:ln w="19050">
            <a:solidFill>
              <a:srgbClr val="8A8F98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8" name="Shape 26"/>
          <p:cNvSpPr/>
          <p:nvPr/>
        </p:nvSpPr>
        <p:spPr>
          <a:xfrm>
            <a:off x="6126480" y="5852160"/>
            <a:ext cx="228600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8A8F98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9" name="Text 27"/>
          <p:cNvSpPr txBox="1"/>
          <p:nvPr/>
        </p:nvSpPr>
        <p:spPr>
          <a:xfrm>
            <a:off x="6355080" y="594360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hsvHash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412480" y="6446520"/>
            <a:ext cx="411480" cy="0"/>
          </a:xfrm>
          <a:prstGeom prst="line">
            <a:avLst/>
          </a:prstGeom>
          <a:noFill/>
          <a:ln w="19050">
            <a:solidFill>
              <a:srgbClr val="8A8F98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1" name="Shape 29"/>
          <p:cNvSpPr/>
          <p:nvPr/>
        </p:nvSpPr>
        <p:spPr>
          <a:xfrm>
            <a:off x="8823960" y="5852160"/>
            <a:ext cx="2286000" cy="1188720"/>
          </a:xfrm>
          <a:prstGeom prst="rect">
            <a:avLst/>
          </a:prstGeom>
          <a:solidFill>
            <a:srgbClr val="EEF3FB"/>
          </a:solidFill>
          <a:ln w="31750">
            <a:solidFill>
              <a:srgbClr val="1A5FB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2" name="Text 30"/>
          <p:cNvSpPr txBox="1"/>
          <p:nvPr/>
        </p:nvSpPr>
        <p:spPr>
          <a:xfrm>
            <a:off x="9052560" y="594360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1A5F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ORB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1109960" y="6446520"/>
            <a:ext cx="411480" cy="0"/>
          </a:xfrm>
          <a:prstGeom prst="line">
            <a:avLst/>
          </a:prstGeom>
          <a:noFill/>
          <a:ln w="19050">
            <a:solidFill>
              <a:srgbClr val="8A8F98"/>
            </a:solidFill>
            <a:prstDash val="solid"/>
            <a:tailEnd type="triangle"/>
          </a:ln>
        </p:spPr>
        <p:txBody>
          <a:bodyPr/>
          <a:lstStyle/>
          <a:p>
            <a:endParaRPr lang="en-IL"/>
          </a:p>
        </p:txBody>
      </p:sp>
      <p:sp>
        <p:nvSpPr>
          <p:cNvPr id="34" name="Shape 32"/>
          <p:cNvSpPr/>
          <p:nvPr/>
        </p:nvSpPr>
        <p:spPr>
          <a:xfrm>
            <a:off x="11887200" y="5623560"/>
            <a:ext cx="2743200" cy="1645920"/>
          </a:xfrm>
          <a:prstGeom prst="rect">
            <a:avLst/>
          </a:prstGeom>
          <a:solidFill>
            <a:srgbClr val="FFFFFF"/>
          </a:solidFill>
          <a:ln w="31750">
            <a:solidFill>
              <a:srgbClr val="1A5FB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5" name="Text 33"/>
          <p:cNvSpPr txBox="1"/>
          <p:nvPr/>
        </p:nvSpPr>
        <p:spPr>
          <a:xfrm>
            <a:off x="12115800" y="571500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5F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of 4 agree?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731520" y="7589520"/>
            <a:ext cx="14794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ORB replaces sHash. The other three fingerprints, and the voting rule, are untouched.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5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4977872" y="85953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502920"/>
            <a:ext cx="147949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Tested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325880"/>
            <a:ext cx="14794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paper's data isn't public, so we built our own — 3,000 real NFTs, and we generated the copies ourselves.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694944" y="1929384"/>
            <a:ext cx="1778508" cy="1778508"/>
          </a:xfrm>
          <a:prstGeom prst="rect">
            <a:avLst/>
          </a:prstGeom>
          <a:solidFill>
            <a:srgbClr val="FFFFFF"/>
          </a:solidFill>
          <a:ln w="19050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6" name="Image 0" descr="/Users/rabeayassin/Developer/nft-dup-heuristic-router/data/example/generated/images/azuki_#8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965960"/>
            <a:ext cx="1705356" cy="17053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3744468"/>
            <a:ext cx="18882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564892" y="1929384"/>
            <a:ext cx="1778508" cy="1778508"/>
          </a:xfrm>
          <a:prstGeom prst="rect">
            <a:avLst/>
          </a:prstGeom>
          <a:solidFill>
            <a:srgbClr val="FFFFFF"/>
          </a:solidFill>
          <a:ln w="19050">
            <a:solidFill>
              <a:srgbClr val="1A5FB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9" name="Image 1" descr="/Users/rabeayassin/Developer/nft-dup-heuristic-router/data/example/generated/images/azuki_#824__exact_copy_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1468" y="1965960"/>
            <a:ext cx="1705356" cy="170535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510028" y="3744468"/>
            <a:ext cx="18882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5F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 copy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434840" y="1929384"/>
            <a:ext cx="1778508" cy="1778508"/>
          </a:xfrm>
          <a:prstGeom prst="rect">
            <a:avLst/>
          </a:prstGeom>
          <a:solidFill>
            <a:srgbClr val="FFFFFF"/>
          </a:solidFill>
          <a:ln w="19050">
            <a:solidFill>
              <a:srgbClr val="1A5FB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12" name="Image 2" descr="/Users/rabeayassin/Developer/nft-dup-heuristic-router/data/example/generated/images/azuki_#824__flip_rotate_mirror__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1416" y="1965960"/>
            <a:ext cx="1705356" cy="170535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379976" y="3744468"/>
            <a:ext cx="18882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5F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flipped / rotated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6304788" y="1929384"/>
            <a:ext cx="1778508" cy="1778508"/>
          </a:xfrm>
          <a:prstGeom prst="rect">
            <a:avLst/>
          </a:prstGeom>
          <a:solidFill>
            <a:srgbClr val="FFFFFF"/>
          </a:solidFill>
          <a:ln w="19050">
            <a:solidFill>
              <a:srgbClr val="1A5FB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15" name="Image 3" descr="/Users/rabeayassin/Developer/nft-dup-heuristic-router/data/example/generated/images/azuki_#824__resize_crop_reposition__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1364" y="1965960"/>
            <a:ext cx="1705356" cy="1705356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6249924" y="3744468"/>
            <a:ext cx="18882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5F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cropped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8174736" y="1929384"/>
            <a:ext cx="1778508" cy="1778508"/>
          </a:xfrm>
          <a:prstGeom prst="rect">
            <a:avLst/>
          </a:prstGeom>
          <a:solidFill>
            <a:srgbClr val="FFFFFF"/>
          </a:solidFill>
          <a:ln w="19050">
            <a:solidFill>
              <a:srgbClr val="1A5FB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18" name="Image 4" descr="/Users/rabeayassin/Developer/nft-dup-heuristic-router/data/example/generated/images/azuki_#824__text_logo_emoji__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11312" y="1965960"/>
            <a:ext cx="1705356" cy="1705356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8119872" y="3744468"/>
            <a:ext cx="18882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5F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 added</a:t>
            </a:r>
            <a:endParaRPr lang="en-US" sz="1200" dirty="0"/>
          </a:p>
        </p:txBody>
      </p:sp>
      <p:sp>
        <p:nvSpPr>
          <p:cNvPr id="20" name="Shape 13"/>
          <p:cNvSpPr/>
          <p:nvPr/>
        </p:nvSpPr>
        <p:spPr>
          <a:xfrm>
            <a:off x="10044684" y="1929384"/>
            <a:ext cx="1778508" cy="1778508"/>
          </a:xfrm>
          <a:prstGeom prst="rect">
            <a:avLst/>
          </a:prstGeom>
          <a:solidFill>
            <a:srgbClr val="FFFFFF"/>
          </a:solidFill>
          <a:ln w="19050">
            <a:solidFill>
              <a:srgbClr val="1A5FB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21" name="Image 5" descr="/Users/rabeayassin/Developer/nft-dup-heuristic-router/data/example/generated/images/azuki_#824__background_color_change__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81260" y="1965960"/>
            <a:ext cx="1705356" cy="1705356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9989820" y="3744468"/>
            <a:ext cx="18882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5F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</a:t>
            </a:r>
            <a:endParaRPr lang="en-US" sz="1200" dirty="0"/>
          </a:p>
        </p:txBody>
      </p:sp>
      <p:sp>
        <p:nvSpPr>
          <p:cNvPr id="23" name="Shape 15"/>
          <p:cNvSpPr/>
          <p:nvPr/>
        </p:nvSpPr>
        <p:spPr>
          <a:xfrm>
            <a:off x="11914632" y="1929384"/>
            <a:ext cx="1778508" cy="1778508"/>
          </a:xfrm>
          <a:prstGeom prst="rect">
            <a:avLst/>
          </a:prstGeom>
          <a:solidFill>
            <a:srgbClr val="FFFFFF"/>
          </a:solidFill>
          <a:ln w="19050">
            <a:solidFill>
              <a:srgbClr val="1A5FB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24" name="Image 6" descr="/Users/rabeayassin/Developer/nft-dup-heuristic-router/data/example/generated/images/azuki_#824__pixelated__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951208" y="1965960"/>
            <a:ext cx="1705356" cy="1705356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11859768" y="3744468"/>
            <a:ext cx="18882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5F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pixelated</a:t>
            </a:r>
            <a:endParaRPr lang="en-US" sz="1200" dirty="0"/>
          </a:p>
        </p:txBody>
      </p:sp>
      <p:sp>
        <p:nvSpPr>
          <p:cNvPr id="26" name="Shape 17"/>
          <p:cNvSpPr/>
          <p:nvPr/>
        </p:nvSpPr>
        <p:spPr>
          <a:xfrm>
            <a:off x="13784580" y="1929384"/>
            <a:ext cx="1778508" cy="1778508"/>
          </a:xfrm>
          <a:prstGeom prst="rect">
            <a:avLst/>
          </a:prstGeom>
          <a:solidFill>
            <a:srgbClr val="FFFFFF"/>
          </a:solidFill>
          <a:ln w="19050">
            <a:solidFill>
              <a:srgbClr val="1A5FB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27" name="Image 7" descr="/Users/rabeayassin/Developer/nft-dup-heuristic-router/data/example/generated/images/azuki_#824__color_swap_modify_saturate__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821156" y="1965960"/>
            <a:ext cx="1705356" cy="1705356"/>
          </a:xfrm>
          <a:prstGeom prst="rect">
            <a:avLst/>
          </a:prstGeom>
        </p:spPr>
      </p:pic>
      <p:sp>
        <p:nvSpPr>
          <p:cNvPr id="28" name="Text 18"/>
          <p:cNvSpPr txBox="1"/>
          <p:nvPr/>
        </p:nvSpPr>
        <p:spPr>
          <a:xfrm>
            <a:off x="13729716" y="3744468"/>
            <a:ext cx="18882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5F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recoloured</a:t>
            </a:r>
            <a:endParaRPr lang="en-US" sz="1200" dirty="0"/>
          </a:p>
        </p:txBody>
      </p:sp>
      <p:sp>
        <p:nvSpPr>
          <p:cNvPr id="29" name="Text 19"/>
          <p:cNvSpPr txBox="1"/>
          <p:nvPr/>
        </p:nvSpPr>
        <p:spPr>
          <a:xfrm>
            <a:off x="731520" y="4480560"/>
            <a:ext cx="72237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six edit types from the paper, three random variations each, plus exact copies and non-matching pairs.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by original image before editing, so no image's copies appear in both training and testing.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set: 11,400 real copies and 2,400 non-copies.</a:t>
            </a:r>
            <a:endParaRPr lang="en-US" sz="1800" dirty="0"/>
          </a:p>
        </p:txBody>
      </p:sp>
      <p:sp>
        <p:nvSpPr>
          <p:cNvPr id="30" name="Shape 20"/>
          <p:cNvSpPr/>
          <p:nvPr/>
        </p:nvSpPr>
        <p:spPr>
          <a:xfrm>
            <a:off x="8321040" y="4480560"/>
            <a:ext cx="7205472" cy="3108960"/>
          </a:xfrm>
          <a:prstGeom prst="rect">
            <a:avLst/>
          </a:prstGeom>
          <a:solidFill>
            <a:srgbClr val="EEF3FB"/>
          </a:solidFill>
          <a:ln w="25400">
            <a:solidFill>
              <a:srgbClr val="1A5FB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1" name="Text 21"/>
          <p:cNvSpPr txBox="1"/>
          <p:nvPr/>
        </p:nvSpPr>
        <p:spPr>
          <a:xfrm>
            <a:off x="8595360" y="4663440"/>
            <a:ext cx="665683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2300" b="1" dirty="0">
                <a:solidFill>
                  <a:srgbClr val="1A5F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handicapped ourselves on purpose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let sHash pick its cutoff by looking at the test answers — something you could never do in practice.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ORB's cutoff was picked on training data only. So every comparison that follows is tilted against us.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5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4977872" y="85953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502920"/>
            <a:ext cx="147949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1 — Head to Head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325880"/>
            <a:ext cx="14794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edits sHash was built for. This is the number from the first slide.</a:t>
            </a:r>
            <a:endParaRPr lang="en-US" sz="1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011680"/>
          <a:ext cx="14794992" cy="1536192"/>
        </p:xfrm>
        <a:graphic>
          <a:graphicData uri="http://schemas.openxmlformats.org/drawingml/2006/table">
            <a:tbl>
              <a:tblPr/>
              <a:tblGrid>
                <a:gridCol w="82113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signal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4C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0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00" b="1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precision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4C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0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00" b="1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recall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4C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0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00" b="1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F1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4C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0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sHash — allowed to look at the answers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4C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66.5%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4C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89.8%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4C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76.4%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4C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A5FB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ORB — no such advantage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4C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91.2%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4C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90.0%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4C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00" b="1" dirty="0">
                          <a:solidFill>
                            <a:srgbClr val="1A5FB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90.6%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4C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31520" y="3886200"/>
            <a:ext cx="14794992" cy="1371600"/>
          </a:xfrm>
          <a:prstGeom prst="rect">
            <a:avLst/>
          </a:prstGeom>
          <a:solidFill>
            <a:srgbClr val="FFFFFF"/>
          </a:solidFill>
          <a:ln w="15875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Text 4"/>
          <p:cNvSpPr txBox="1"/>
          <p:nvPr/>
        </p:nvSpPr>
        <p:spPr>
          <a:xfrm>
            <a:off x="960120" y="3977640"/>
            <a:ext cx="143377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recall looks close — 89.8 against 90.0. But sHash gets there by accusing everything: </a:t>
            </a:r>
            <a:r>
              <a:rPr lang="en-US" sz="19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in three of its accusations is an innocent image.</a:t>
            </a:r>
            <a:endParaRPr lang="en-US" sz="1900" dirty="0"/>
          </a:p>
        </p:txBody>
      </p:sp>
      <p:pic>
        <p:nvPicPr>
          <p:cNvPr id="8" name="Image 0" descr="/Users/rabeayassin/Developer/nft-dup-heuristic-router/docs/orb_vs_sha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5440680"/>
            <a:ext cx="932688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5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4977872" y="85953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502920"/>
            <a:ext cx="147949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2 — It Wins Almost Everywhere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325880"/>
            <a:ext cx="14794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 by kind of edit:</a:t>
            </a:r>
            <a:r>
              <a:rPr lang="en-US" sz="20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share of each edit's copies that ORB catches (same cutoff as Result 1).</a:t>
            </a:r>
            <a:endParaRPr lang="en-US" sz="20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731520" y="2011680"/>
          <a:ext cx="9144000" cy="6217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10424160" y="2194560"/>
            <a:ext cx="5102352" cy="2743200"/>
          </a:xfrm>
          <a:prstGeom prst="rect">
            <a:avLst/>
          </a:prstGeom>
          <a:solidFill>
            <a:srgbClr val="F0ECE2"/>
          </a:solidFill>
          <a:ln w="12700">
            <a:solidFill>
              <a:srgbClr val="F0ECE2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Text 4"/>
          <p:cNvSpPr txBox="1"/>
          <p:nvPr/>
        </p:nvSpPr>
        <p:spPr>
          <a:xfrm>
            <a:off x="10698480" y="2359152"/>
            <a:ext cx="4553712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aimed it at cropping</a:t>
            </a:r>
            <a:endParaRPr lang="en-US" sz="2200" dirty="0"/>
          </a:p>
          <a:p>
            <a:pPr marL="0" indent="0">
              <a:buNone/>
            </a:pPr>
            <a:r>
              <a:rPr lang="en-US" sz="16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does that — 98%. But it also survives a recoloured background and a logo pasted on top, which we did not expect. Neither of those disturbs the shapes ORB looks for.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10424160" y="5212080"/>
            <a:ext cx="5102352" cy="3017520"/>
          </a:xfrm>
          <a:prstGeom prst="rect">
            <a:avLst/>
          </a:prstGeom>
          <a:solidFill>
            <a:srgbClr val="F0ECE2"/>
          </a:solidFill>
          <a:ln w="12700">
            <a:solidFill>
              <a:srgbClr val="F0ECE2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9" name="Text 6"/>
          <p:cNvSpPr txBox="1"/>
          <p:nvPr/>
        </p:nvSpPr>
        <p:spPr>
          <a:xfrm>
            <a:off x="10698480" y="5376672"/>
            <a:ext cx="4553712" cy="2688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A33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clean failure</a:t>
            </a:r>
            <a:endParaRPr lang="en-US" sz="2200" dirty="0"/>
          </a:p>
          <a:p>
            <a:pPr marL="0" indent="0">
              <a:buNone/>
            </a:pPr>
            <a:r>
              <a:rPr lang="en-US" sz="16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Pixelation destroys the fine detail that corners are made of, so there is nothing left to find.</a:t>
            </a:r>
            <a:endParaRPr lang="en-US" sz="2200" dirty="0"/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r>
              <a:rPr lang="en-US" sz="16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failure we can explain is a good place to be — and the other three fingerprints still cover it.</a:t>
            </a:r>
            <a:endParaRPr lang="en-US" sz="2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5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4977872" y="85953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502920"/>
            <a:ext cx="147949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3 — In the Whole Detector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325880"/>
            <a:ext cx="14794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one signal. Leave everything else exactly as the paper specifies it.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2468880"/>
            <a:ext cx="4206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77.5</a:t>
            </a:r>
            <a:endParaRPr lang="en-US" sz="9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434340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paper's detector,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its own settings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675120" y="3291840"/>
            <a:ext cx="2103120" cy="0"/>
          </a:xfrm>
          <a:prstGeom prst="line">
            <a:avLst/>
          </a:prstGeom>
          <a:noFill/>
          <a:ln w="38100">
            <a:solidFill>
              <a:srgbClr val="2B2B2B"/>
            </a:solidFill>
            <a:prstDash val="solid"/>
            <a:tailEnd type="triangle"/>
          </a:ln>
        </p:spPr>
        <p:txBody>
          <a:bodyPr/>
          <a:lstStyle/>
          <a:p>
            <a:endParaRPr lang="en-IL"/>
          </a:p>
        </p:txBody>
      </p:sp>
      <p:sp>
        <p:nvSpPr>
          <p:cNvPr id="8" name="Text 6"/>
          <p:cNvSpPr txBox="1"/>
          <p:nvPr/>
        </p:nvSpPr>
        <p:spPr>
          <a:xfrm>
            <a:off x="9144000" y="2468880"/>
            <a:ext cx="4206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1A5F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86.4</a:t>
            </a:r>
            <a:endParaRPr lang="en-US" sz="9600" dirty="0"/>
          </a:p>
        </p:txBody>
      </p:sp>
      <p:sp>
        <p:nvSpPr>
          <p:cNvPr id="9" name="Text 7"/>
          <p:cNvSpPr txBox="1"/>
          <p:nvPr/>
        </p:nvSpPr>
        <p:spPr>
          <a:xfrm>
            <a:off x="8778240" y="434340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detector,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ORB in place of sHash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0" y="288036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A5F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+8.9 F1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731520" y="5394960"/>
            <a:ext cx="14794992" cy="1097280"/>
          </a:xfrm>
          <a:prstGeom prst="rect">
            <a:avLst/>
          </a:prstGeom>
          <a:solidFill>
            <a:srgbClr val="FFFFFF"/>
          </a:solidFill>
          <a:ln w="15875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2" name="Text 10"/>
          <p:cNvSpPr txBox="1"/>
          <p:nvPr/>
        </p:nvSpPr>
        <p:spPr>
          <a:xfrm>
            <a:off x="960120" y="5486400"/>
            <a:ext cx="14337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Re-tune their thresholds to our data — which helps them, not us — and it's 81.7 → 87.5. It wins either way.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731520" y="6720840"/>
            <a:ext cx="14794992" cy="1691640"/>
          </a:xfrm>
          <a:prstGeom prst="rect">
            <a:avLst/>
          </a:prstGeom>
          <a:solidFill>
            <a:srgbClr val="F0ECE2"/>
          </a:solidFill>
          <a:ln w="12700">
            <a:solidFill>
              <a:srgbClr val="F0ECE2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4" name="Text 12"/>
          <p:cNvSpPr txBox="1"/>
          <p:nvPr/>
        </p:nvSpPr>
        <p:spPr>
          <a:xfrm>
            <a:off x="1005840" y="6885432"/>
            <a:ext cx="14246352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caveat, said out loud</a:t>
            </a:r>
            <a:endParaRPr lang="en-US" sz="2200" dirty="0"/>
          </a:p>
          <a:p>
            <a:pPr marL="0" indent="0">
              <a:buNone/>
            </a:pPr>
            <a:r>
              <a:rPr lang="en-US" sz="18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test set is mostly copies, so a detector that says "yes" to everything already scores well on F1. That's why the fair comparison is how many copies are caught at the same accusation rate: 64% → 77%.</a:t>
            </a:r>
            <a:endParaRPr lang="en-US" sz="2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5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4977872" y="85953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502920"/>
            <a:ext cx="147949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Learned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78308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1A5F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endParaRPr lang="en-US" sz="5200" dirty="0"/>
          </a:p>
        </p:txBody>
      </p:sp>
      <p:sp>
        <p:nvSpPr>
          <p:cNvPr id="5" name="Text 3"/>
          <p:cNvSpPr txBox="1"/>
          <p:nvPr/>
        </p:nvSpPr>
        <p:spPr>
          <a:xfrm>
            <a:off x="1920240" y="1783080"/>
            <a:ext cx="1360627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25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the maths before optimising it</a:t>
            </a:r>
            <a:endParaRPr lang="en-US" sz="2500" dirty="0"/>
          </a:p>
          <a:p>
            <a:pPr marL="0" indent="0">
              <a:buNone/>
            </a:pPr>
            <a:r>
              <a:rPr lang="en-US" sz="18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set out to make a search faster and found the search itself was unsound. Speed means nothing until the tool is correct.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1920240" y="3749040"/>
            <a:ext cx="13606272" cy="0"/>
          </a:xfrm>
          <a:prstGeom prst="line">
            <a:avLst/>
          </a:prstGeom>
          <a:noFill/>
          <a:ln w="12700">
            <a:solidFill>
              <a:srgbClr val="DEDBD3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Text 5"/>
          <p:cNvSpPr txBox="1"/>
          <p:nvPr/>
        </p:nvSpPr>
        <p:spPr>
          <a:xfrm>
            <a:off x="731520" y="393192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1A5F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endParaRPr lang="en-US" sz="5200" dirty="0"/>
          </a:p>
        </p:txBody>
      </p:sp>
      <p:sp>
        <p:nvSpPr>
          <p:cNvPr id="8" name="Text 6"/>
          <p:cNvSpPr txBox="1"/>
          <p:nvPr/>
        </p:nvSpPr>
        <p:spPr>
          <a:xfrm>
            <a:off x="1920240" y="3931920"/>
            <a:ext cx="1360627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25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you store a signal decides how you can search it</a:t>
            </a:r>
            <a:endParaRPr lang="en-US" sz="2500" dirty="0"/>
          </a:p>
          <a:p>
            <a:pPr marL="0" indent="0">
              <a:buNone/>
            </a:pPr>
            <a:r>
              <a:rPr lang="en-US" sz="18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fingerprint fits a tree. A set of landmarks needs a different index entirely. You don't get to pick the signal and the storage separately — that's what the 14.5 KB is really telling us.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1920240" y="5897880"/>
            <a:ext cx="13606272" cy="0"/>
          </a:xfrm>
          <a:prstGeom prst="line">
            <a:avLst/>
          </a:prstGeom>
          <a:noFill/>
          <a:ln w="12700">
            <a:solidFill>
              <a:srgbClr val="DEDBD3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0" name="Text 8"/>
          <p:cNvSpPr txBox="1"/>
          <p:nvPr/>
        </p:nvSpPr>
        <p:spPr>
          <a:xfrm>
            <a:off x="731520" y="608076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1A5F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endParaRPr lang="en-US" sz="5200" dirty="0"/>
          </a:p>
        </p:txBody>
      </p:sp>
      <p:sp>
        <p:nvSpPr>
          <p:cNvPr id="11" name="Text 9"/>
          <p:cNvSpPr txBox="1"/>
          <p:nvPr/>
        </p:nvSpPr>
        <p:spPr>
          <a:xfrm>
            <a:off x="1920240" y="6080760"/>
            <a:ext cx="1360627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25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negative result is still a result</a:t>
            </a:r>
            <a:endParaRPr lang="en-US" sz="2500" dirty="0"/>
          </a:p>
          <a:p>
            <a:pPr marL="0" indent="0">
              <a:buNone/>
            </a:pPr>
            <a:r>
              <a:rPr lang="en-US" sz="18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built the edit classifier, measured it, and it didn't improve accuracy — because a broken fingerprint here goes quiet rather than voting wrongly, so silencing it changes nothing. We're happy to go into the details.</a:t>
            </a:r>
            <a:endParaRPr lang="en-US" sz="2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9">
    <p:bg>
      <p:bgPr>
        <a:solidFill>
          <a:srgbClr val="FAF5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4977872" y="85953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502920"/>
            <a:ext cx="147949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Next</a:t>
            </a:r>
            <a:endParaRPr lang="en-US" sz="4400" dirty="0"/>
          </a:p>
        </p:txBody>
      </p:sp>
      <p:pic>
        <p:nvPicPr>
          <p:cNvPr id="4" name="Image 0" descr="/Users/rabeayassin/Developer/nft-dup-heuristic-router/data/example/generated/images/azuki_#8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657600"/>
            <a:ext cx="2926080" cy="2926080"/>
          </a:xfrm>
          <a:prstGeom prst="rect">
            <a:avLst/>
          </a:prstGeom>
        </p:spPr>
      </p:pic>
      <p:pic>
        <p:nvPicPr>
          <p:cNvPr id="5" name="Image 1" descr="/private/tmp/claude-501/-Users-rabeayassin-Developer-nft-dup-heuristic-router/228e9e47-9c60-421c-ac33-6b72f93e74ff/scratchpad/build/punk_neare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0" y="3657600"/>
            <a:ext cx="2926080" cy="292608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40080" y="67208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256 × 256 — plenty of detail</a:t>
            </a:r>
            <a:endParaRPr lang="en-US" sz="1500" dirty="0"/>
          </a:p>
        </p:txBody>
      </p:sp>
      <p:sp>
        <p:nvSpPr>
          <p:cNvPr id="7" name="Text 3"/>
          <p:cNvSpPr txBox="1"/>
          <p:nvPr/>
        </p:nvSpPr>
        <p:spPr>
          <a:xfrm>
            <a:off x="3931920" y="67208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A33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× 24 — nothing for ORB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A33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hold on to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7772400" y="2286000"/>
            <a:ext cx="7754112" cy="6126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2600" b="1" dirty="0">
                <a:solidFill>
                  <a:srgbClr val="1A5F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</a:t>
            </a:r>
            <a:endParaRPr lang="en-US" sz="2000" dirty="0"/>
          </a:p>
          <a:p>
            <a:pPr marL="0" indent="0">
              <a:spcAft>
                <a:spcPts val="3400"/>
              </a:spcAft>
              <a:buNone/>
            </a:pPr>
            <a:r>
              <a:rPr lang="en-US" sz="2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the landmark data off-chain with a small fingerprint of it on-chain — or find a compact geometric signal that fits the budget.</a:t>
            </a:r>
            <a:endParaRPr lang="en-US" sz="20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2600" b="1" dirty="0">
                <a:solidFill>
                  <a:srgbClr val="1A5F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Pixelation</a:t>
            </a:r>
            <a:endParaRPr lang="en-US" sz="2000" dirty="0"/>
          </a:p>
          <a:p>
            <a:pPr marL="0" indent="0">
              <a:spcAft>
                <a:spcPts val="3400"/>
              </a:spcAft>
              <a:buNone/>
            </a:pPr>
            <a:r>
              <a:rPr lang="en-US" sz="2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ORB's one failure. Pair it with a signal that survives it — the paper's own coarse fingerprints already do.</a:t>
            </a:r>
            <a:endParaRPr lang="en-US" sz="20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2600" b="1" dirty="0">
                <a:solidFill>
                  <a:srgbClr val="1A5F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Tiny images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× 24 pixel art is genuinely hard. Upscaling recovers some landmarks but cannot invent detail that was never there.</a:t>
            </a:r>
            <a:endParaRPr lang="en-US" sz="2000" dirty="0"/>
          </a:p>
        </p:txBody>
      </p:sp>
      <p:sp>
        <p:nvSpPr>
          <p:cNvPr id="9" name="Shape 5"/>
          <p:cNvSpPr/>
          <p:nvPr/>
        </p:nvSpPr>
        <p:spPr>
          <a:xfrm>
            <a:off x="7223760" y="2286000"/>
            <a:ext cx="0" cy="6126480"/>
          </a:xfrm>
          <a:prstGeom prst="line">
            <a:avLst/>
          </a:prstGeom>
          <a:noFill/>
          <a:ln w="12700">
            <a:solidFill>
              <a:srgbClr val="DEDBD3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5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4977872" y="85953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502920"/>
            <a:ext cx="147949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Just Showed You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14884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5F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1920240" y="2221992"/>
            <a:ext cx="135148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paper</a:t>
            </a:r>
            <a:r>
              <a:rPr lang="en-US" sz="20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—   four fingerprints vote — two agreeing means a copy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319272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5F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3392424"/>
            <a:ext cx="135148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goal</a:t>
            </a:r>
            <a:r>
              <a:rPr lang="en-US" sz="20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—   make it faster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489704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5F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1920240" y="4562856"/>
            <a:ext cx="135148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found</a:t>
            </a:r>
            <a:r>
              <a:rPr lang="en-US" sz="20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—   one of the four can't be searched correctly — it misses real copies silently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5660136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5F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1920240" y="5733288"/>
            <a:ext cx="135148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did</a:t>
            </a:r>
            <a:r>
              <a:rPr lang="en-US" sz="20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—   replaced it with feature matching: landmarks, RANSAC, and an index for scale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6830568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5F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1920240" y="6903720"/>
            <a:ext cx="135148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result</a:t>
            </a:r>
            <a:r>
              <a:rPr lang="en-US" sz="20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—   +14.2 on the job it was built for, +8.9 in the full system — but too big to store on-chain, ≈ 34 ms a pair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7955280"/>
            <a:ext cx="14794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5F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signal replaced, measured honestly, with its cost stated.</a:t>
            </a:r>
            <a:endParaRPr lang="en-US" sz="2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1">
    <p:bg>
      <p:bgPr>
        <a:solidFill>
          <a:srgbClr val="FAF5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4977872" y="85953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502920"/>
            <a:ext cx="147949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&amp; Questions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325880"/>
            <a:ext cx="14794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on these slides reproduces from the repository.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14794992" cy="960120"/>
          </a:xfrm>
          <a:prstGeom prst="rect">
            <a:avLst/>
          </a:prstGeom>
          <a:solidFill>
            <a:srgbClr val="F0ECE2"/>
          </a:solidFill>
          <a:ln w="12700">
            <a:solidFill>
              <a:srgbClr val="F0ECE2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Text 4"/>
          <p:cNvSpPr txBox="1"/>
          <p:nvPr/>
        </p:nvSpPr>
        <p:spPr>
          <a:xfrm>
            <a:off x="1005840" y="2377440"/>
            <a:ext cx="14246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900" dirty="0">
                <a:solidFill>
                  <a:srgbClr val="1A5F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compare_shash.py</a:t>
            </a:r>
            <a:endParaRPr lang="en-US" sz="1900" dirty="0"/>
          </a:p>
          <a:p>
            <a:pPr marL="0" indent="0">
              <a:buNone/>
            </a:pPr>
            <a:r>
              <a:rPr lang="en-US" sz="16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ORB against sHash, head to head   ·   slide 17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731520" y="3474720"/>
            <a:ext cx="14794992" cy="960120"/>
          </a:xfrm>
          <a:prstGeom prst="rect">
            <a:avLst/>
          </a:prstGeom>
          <a:solidFill>
            <a:srgbClr val="F0ECE2"/>
          </a:solidFill>
          <a:ln w="12700">
            <a:solidFill>
              <a:srgbClr val="F0ECE2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8" name="Text 6"/>
          <p:cNvSpPr txBox="1"/>
          <p:nvPr/>
        </p:nvSpPr>
        <p:spPr>
          <a:xfrm>
            <a:off x="1005840" y="3566160"/>
            <a:ext cx="14246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900" dirty="0">
                <a:solidFill>
                  <a:srgbClr val="1A5F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descriptor_budget.py</a:t>
            </a:r>
            <a:endParaRPr lang="en-US" sz="1900" dirty="0"/>
          </a:p>
          <a:p>
            <a:pPr marL="0" indent="0">
              <a:buNone/>
            </a:pPr>
            <a:r>
              <a:rPr lang="en-US" sz="16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size-versus-accuracy curve   ·   slide 9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31520" y="4663440"/>
            <a:ext cx="14794992" cy="960120"/>
          </a:xfrm>
          <a:prstGeom prst="rect">
            <a:avLst/>
          </a:prstGeom>
          <a:solidFill>
            <a:srgbClr val="F0ECE2"/>
          </a:solidFill>
          <a:ln w="12700">
            <a:solidFill>
              <a:srgbClr val="F0ECE2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0" name="Text 8"/>
          <p:cNvSpPr txBox="1"/>
          <p:nvPr/>
        </p:nvSpPr>
        <p:spPr>
          <a:xfrm>
            <a:off x="1005840" y="4754880"/>
            <a:ext cx="14246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900" dirty="0">
                <a:solidFill>
                  <a:srgbClr val="1A5F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evaluate_deployed.py</a:t>
            </a:r>
            <a:endParaRPr lang="en-US" sz="1900" dirty="0"/>
          </a:p>
          <a:p>
            <a:pPr marL="0" indent="0">
              <a:buNone/>
            </a:pPr>
            <a:r>
              <a:rPr lang="en-US" sz="16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paper at its own thresholds, against our swap   ·   slide 19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6766560"/>
            <a:ext cx="147949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4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TM04033917[[fn=Berlin]]</Template>
  <TotalTime>169</TotalTime>
  <Words>3562</Words>
  <Application>Microsoft Macintosh PowerPoint</Application>
  <PresentationFormat>Custom</PresentationFormat>
  <Paragraphs>349</Paragraphs>
  <Slides>22</Slides>
  <Notes>22</Notes>
  <HiddenSlides>2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Courier New</vt:lpstr>
      <vt:lpstr>Trebuchet MS</vt:lpstr>
      <vt:lpstr>Berlin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Rabea Yassin</cp:lastModifiedBy>
  <cp:revision>11</cp:revision>
  <dcterms:created xsi:type="dcterms:W3CDTF">2026-09-23T10:36:46Z</dcterms:created>
  <dcterms:modified xsi:type="dcterms:W3CDTF">2026-10-06T21:00:17Z</dcterms:modified>
</cp:coreProperties>
</file>