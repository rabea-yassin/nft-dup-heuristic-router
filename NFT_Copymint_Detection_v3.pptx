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av" ContentType="audio/x-wav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7" r:id="rId11"/>
    <p:sldId id="265" r:id="rId12"/>
    <p:sldId id="267" r:id="rId13"/>
    <p:sldId id="266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6257588" cy="9144000"/>
  <p:notesSz cx="9144000" cy="162575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78"/>
    <p:restoredTop sz="73623"/>
  </p:normalViewPr>
  <p:slideViewPr>
    <p:cSldViewPr snapToGrid="0" snapToObjects="1">
      <p:cViewPr varScale="1">
        <p:scale>
          <a:sx n="68" d="100"/>
          <a:sy n="68" d="100"/>
        </p:scale>
        <p:origin x="163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1A5FB4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0" i="0" u="none" strike="noStrike">
                    <a:solidFill>
                      <a:srgbClr val="2B2B2B"/>
                    </a:solidFill>
                    <a:latin typeface="Courier New"/>
                  </a:defRPr>
                </a:pPr>
                <a:endParaRPr lang="he-I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pixelated</c:v>
                </c:pt>
                <c:pt idx="1">
                  <c:v>recoloured</c:v>
                </c:pt>
                <c:pt idx="2">
                  <c:v>flipped / rotated</c:v>
                </c:pt>
                <c:pt idx="3">
                  <c:v>cropped / resized</c:v>
                </c:pt>
                <c:pt idx="4">
                  <c:v>background changed</c:v>
                </c:pt>
                <c:pt idx="5">
                  <c:v>exact copy</c:v>
                </c:pt>
                <c:pt idx="6">
                  <c:v>logo or text added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28.5</c:v>
                </c:pt>
                <c:pt idx="1">
                  <c:v>79.8</c:v>
                </c:pt>
                <c:pt idx="2">
                  <c:v>81.7</c:v>
                </c:pt>
                <c:pt idx="3">
                  <c:v>98.3</c:v>
                </c:pt>
                <c:pt idx="4">
                  <c:v>98.9</c:v>
                </c:pt>
                <c:pt idx="5">
                  <c:v>100</c:v>
                </c:pt>
                <c:pt idx="6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4F-CC49-846E-9A51E74248E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B2B2B"/>
                </a:solidFill>
                <a:latin typeface="Arial"/>
              </a:defRPr>
            </a:pPr>
            <a:endParaRPr lang="he-IL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6160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המטרה המקורית שלנו הייתה יעילות — להפוך את הגלאי לזול יותר להרצה. </a:t>
            </a: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הרעיון היה edit </a:t>
            </a:r>
            <a:r>
              <a:rPr lang="he-IL" sz="1400" dirty="0" err="1">
                <a:cs typeface="Arial"/>
              </a:rPr>
              <a:t>classifier</a:t>
            </a:r>
            <a:r>
              <a:rPr lang="he-IL" sz="1400" dirty="0">
                <a:cs typeface="Arial"/>
              </a:rPr>
              <a:t>:</a:t>
            </a:r>
            <a:r>
              <a:rPr lang="en-US" sz="1400" dirty="0">
                <a:cs typeface="Arial"/>
              </a:rPr>
              <a:t> </a:t>
            </a:r>
            <a:r>
              <a:rPr lang="he-IL" sz="1400" dirty="0">
                <a:cs typeface="Arial"/>
              </a:rPr>
              <a:t>להסתכל קודם על התמונה, להבין איזה סוג עריכה היא עברה, ולהריץ רק את החיפושים שבאמת יכולים לעזור.</a:t>
            </a: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אם אפשר לזהות שתמונה עברה פיקסליזציה, אין טעם לחפש בעץ של sHash — הוא נשבר בדיוק על זה.</a:t>
            </a: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אז פחות חיפושים לכל בדיקה.</a:t>
            </a:r>
          </a:p>
          <a:p>
            <a:pPr algn="r" rtl="1"/>
            <a:r>
              <a:rPr lang="he-IL" sz="1400" dirty="0">
                <a:cs typeface="Arial"/>
              </a:rPr>
              <a:t>אבל כדי לבנות את זה, היינו צריכים להבין בדיוק מה כל אחד מארבעת הסיגנלים עושה, ואיפה כל אחד נשבר — ושם הפרויקט השתנה.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</a:t>
            </a: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 „וכשהסתכלנו מקרוב על הסיגנל הרביעי, sHash, גילינו שהוא לא עובד.”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sHash חותך את התמונה לחלקים, ומחשב טביעת אצבע לכל חלק — כלומר תמונה אחת נותנת רשימה, לא מספר אחד.</a:t>
            </a: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 כדי להשוות שתי תמונות, מתאימים בין הרשימות: לכל חלק של A מוצאים את החלק הכי קרוב ב־B, ועושים ממוצע.</a:t>
            </a:r>
          </a:p>
          <a:p>
            <a:pPr algn="r" rtl="1"/>
            <a:r>
              <a:rPr lang="he-IL" sz="1400" dirty="0">
                <a:cs typeface="Arial"/>
              </a:rPr>
              <a:t>עכשיו תראו מה קורה כשב־B יש חלק שאין </a:t>
            </a:r>
            <a:r>
              <a:rPr lang="he-IL" sz="1400" dirty="0" err="1">
                <a:cs typeface="Arial"/>
              </a:rPr>
              <a:t>ב־A</a:t>
            </a:r>
            <a:r>
              <a:rPr lang="he-IL" sz="1400" dirty="0">
                <a:cs typeface="Arial"/>
              </a:rPr>
              <a:t>.</a:t>
            </a:r>
            <a:br>
              <a:rPr lang="en-US" sz="1400" dirty="0">
                <a:cs typeface="Arial"/>
              </a:rPr>
            </a:b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* אנחנו מניחים שלחלקים דומים יש הפרש של 2 ולחלקיים ממש זרים יש הפרש של 34*</a:t>
            </a:r>
            <a:br>
              <a:rPr lang="en-US" sz="1400" dirty="0">
                <a:cs typeface="Arial"/>
              </a:rPr>
            </a:br>
            <a:br>
              <a:rPr lang="en-US" sz="1400" dirty="0">
                <a:cs typeface="Arial"/>
              </a:rPr>
            </a:br>
            <a:r>
              <a:rPr lang="he-IL" sz="1400" dirty="0">
                <a:cs typeface="Arial"/>
              </a:rPr>
              <a:t> בכיוון מ־A ל־B, החלק העודף לא נכנס לחישוב בכלל — כל חלק של A מצא התאמה טובה, אז הממוצע הוא 2. בכיוון מ־B ל־A, לאותו חלק אין שום התאמה, אז הוא מוסיף 34 לחישוב, והממוצע הוא 10.</a:t>
            </a:r>
            <a:br>
              <a:rPr lang="en-US" sz="1400" dirty="0">
                <a:cs typeface="Arial"/>
              </a:rPr>
            </a:br>
            <a:endParaRPr lang="he-IL" sz="1400" dirty="0">
              <a:cs typeface="Arial"/>
            </a:endParaRPr>
          </a:p>
          <a:p>
            <a:pPr algn="r" rtl="1"/>
            <a:r>
              <a:rPr lang="he-IL" sz="1400" dirty="0">
                <a:cs typeface="Arial"/>
              </a:rPr>
              <a:t>אותן שתי תמונות — שתי תשובות שונות. זה לא מרחק. וזה לא רק תיאורטי</a:t>
            </a:r>
            <a:r>
              <a:rPr lang="en-US" sz="1400" dirty="0">
                <a:cs typeface="Arial"/>
              </a:rPr>
              <a:t>: </a:t>
            </a:r>
            <a:r>
              <a:rPr lang="he-IL" sz="1400" dirty="0">
                <a:cs typeface="Arial"/>
              </a:rPr>
              <a:t>בקובץ הנתונים שהכותבים שיתפו איתנו, המרחק המדווח מתאים לכיוון אחד בכל 1,802 הזוגות — ולכיוון השני רק ב־240. אגב, זה גם מה שאפשר לנו לוודא שהמימוש שלנו זהה לשלהם.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„לבד, זה סתם קוריוז. הבעיה היא במה שעושים עם המספר הזה.”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עץ החיפוש מהיר כי הוא מדלג על ענפים.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הוא יכול לעשות את זה רק אם המרחקים שומרים על כלל אחד: הדרך הישירה אף פעם לא ארוכה יותר מהעקיפה — אי־שוויון המשולש.</a:t>
            </a:r>
            <a:br>
              <a:rPr lang="he-IL" sz="1400" dirty="0"/>
            </a:br>
            <a:br>
              <a:rPr lang="he-IL" sz="1400" dirty="0"/>
            </a:br>
            <a:r>
              <a:rPr lang="he-IL" sz="1400" dirty="0">
                <a:cs typeface="Arial"/>
              </a:rPr>
              <a:t>* בדוגמה הזאת אנחנו מניחים: בין שני חלקים של אותה חיה המרחק הוא 2, ובין חתול לכלב המרחק הוא 30 *</a:t>
            </a:r>
          </a:p>
          <a:p>
            <a:pPr algn="r" rtl="1"/>
            <a:r>
              <a:rPr lang="he-IL" sz="1400" dirty="0">
                <a:cs typeface="Arial"/>
              </a:rPr>
              <a:t>הנה מה שמשתבש. תמונה A היא חתול. תמונה C היא כלב. תמונה B היא תמונה שיש בה את שניהם.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[להצביע על B]</a:t>
            </a:r>
            <a:br>
              <a:rPr lang="he-IL" sz="1400" dirty="0"/>
            </a:br>
            <a:r>
              <a:rPr lang="he-IL" sz="1400" dirty="0">
                <a:cs typeface="Arial"/>
              </a:rPr>
              <a:t>בגלל ש־sHash משווה חלק־חלק, B נראית קרובה ל־A — יש בה חתול — וקרובה ל־C, כי יש בה כלב.</a:t>
            </a:r>
            <a:br>
              <a:rPr lang="he-IL" sz="1400" dirty="0"/>
            </a:br>
            <a:r>
              <a:rPr lang="he-IL" sz="1400" dirty="0">
                <a:cs typeface="Arial"/>
              </a:rPr>
              <a:t>מ־A ל־B זה 2. מ־B ל־C זה 16. אז לפי הכלל, A ל־C יכול להיות לכל היותר 18.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אבל A ל־C זה בפועל 30 — יותר מ־2 ועוד 16. הכלל פשוט לא מתקיים.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וברגע שהוא לא מתקיים, הדילוגים של העץ כבר לא בטוחים.</a:t>
            </a:r>
          </a:p>
          <a:p>
            <a:pPr algn="r" rtl="1"/>
            <a:r>
              <a:rPr lang="he-IL" sz="1400" dirty="0">
                <a:cs typeface="Arial"/>
              </a:rPr>
              <a:t>איך זה הופך להעתק שמפוספס:</a:t>
            </a:r>
            <a:br>
              <a:rPr lang="he-IL" sz="1400" dirty="0"/>
            </a:br>
            <a:r>
              <a:rPr lang="he-IL" sz="1400" dirty="0">
                <a:cs typeface="Arial"/>
              </a:rPr>
              <a:t>נגיד ש־B יושבת בשורש העץ, ומתחתיה שמור העתק אמיתי של החתול — במרחק 16 ממנה, בגלל הכלב של B.</a:t>
            </a:r>
            <a:br>
              <a:rPr lang="he-IL" sz="1400" dirty="0"/>
            </a:br>
            <a:r>
              <a:rPr lang="he-IL" sz="1400" dirty="0">
                <a:cs typeface="Arial"/>
              </a:rPr>
              <a:t>מגיעה שאילתה של חתול. המרחק שלה ל־B הוא 2.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העץ בודק רק ענפים שקרובים ל־2, אז הענף של 16 נראה לו רחוק מדי — והוא מדלג עליו.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אבל שם בדיוק ישב ההעתק שחיפשנו — במרחק 2 בלבד.</a:t>
            </a:r>
          </a:p>
          <a:p>
            <a:pPr algn="r" rtl="1"/>
            <a:r>
              <a:rPr lang="he-IL" sz="1400" dirty="0">
                <a:cs typeface="Arial"/>
              </a:rPr>
              <a:t>שום דבר לא קורס. שום שגיאה לא מופיעה.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המערכת פשוט מפספסת העתקים בשקט — והעתק שמפוספס זו בדיוק הטעות שאנחנו לא יכולים להרשות לעצמנו.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„אז הפסקנו לנסות להאיץ אותו — והחלפנו אותו.”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אז החלפנו את sHash ב־ORB.</a:t>
            </a:r>
            <a:br>
              <a:rPr lang="he-IL" sz="1400" dirty="0"/>
            </a:br>
            <a:r>
              <a:rPr lang="he-IL" sz="1400" dirty="0">
                <a:cs typeface="Arial"/>
              </a:rPr>
              <a:t>במקום לדחוס את התמונה לטביעת אצבע אחת, ORB מתאים נקודות ציון אמיתיות בין שתי התמונות.</a:t>
            </a:r>
            <a:br>
              <a:rPr lang="he-IL" sz="1400" dirty="0"/>
            </a:br>
            <a:r>
              <a:rPr lang="he-IL" sz="1400" dirty="0">
                <a:cs typeface="Arial"/>
              </a:rPr>
              <a:t>שתי סיבות: הוא עושה את העבודה של sHash — חיתוכים וסיבובים — כמו שצריך,</a:t>
            </a:r>
            <a:br>
              <a:rPr lang="he-IL" sz="1400" dirty="0"/>
            </a:br>
            <a:r>
              <a:rPr lang="he-IL" sz="1400" dirty="0">
                <a:cs typeface="Arial"/>
              </a:rPr>
              <a:t>ובניגוד ל־sHash, אפשר לשמור את הנתונים שלו באינדקס שבאמת עובד — אחמד יראה איך בשקופיות הבאות.</a:t>
            </a:r>
          </a:p>
          <a:p>
            <a:pPr algn="r" rtl="1"/>
            <a:r>
              <a:rPr lang="he-IL" sz="1400" dirty="0">
                <a:cs typeface="Arial"/>
              </a:rPr>
              <a:t>ועכשיו החלק הכן, לפני כל תוצאה.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כל הרעיון של המאמר הוא לשמור את טביעות האצבע בתוך טרנזקציית ה־mint עצמה, על הבלוקצ׳יין.</a:t>
            </a:r>
            <a:br>
              <a:rPr lang="he-IL" sz="1400" dirty="0"/>
            </a:br>
            <a:r>
              <a:rPr lang="he-IL" sz="1400" dirty="0">
                <a:cs typeface="Arial"/>
              </a:rPr>
              <a:t>טרנזקציה כזו, לפי המאמר, היא בערך 300 עד 500 בתים.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ארבע טביעות האצבע ביחד הן בערך 56 בתים — נכנסות בקלות.</a:t>
            </a:r>
          </a:p>
          <a:p>
            <a:pPr algn="r" rtl="1"/>
            <a:r>
              <a:rPr lang="he-IL" sz="1400" dirty="0">
                <a:cs typeface="Arial"/>
              </a:rPr>
              <a:t>ב־ORB, כל נקודת ציון מתוארת ב־32 בתים, ולתמונה יש בערך 455 נקודות.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כ־14,500 בתים — כמו 36 טרנזקציות שלמות.</a:t>
            </a:r>
            <a:br>
              <a:rPr lang="he-IL" sz="1400" dirty="0"/>
            </a:br>
            <a:r>
              <a:rPr lang="he-IL" sz="1400" dirty="0">
                <a:cs typeface="Arial"/>
              </a:rPr>
              <a:t>ניסינו לכווץ אותו:</a:t>
            </a:r>
            <a:br>
              <a:rPr lang="he-IL" sz="1400" dirty="0"/>
            </a:br>
            <a:r>
              <a:rPr lang="he-IL" sz="1400" dirty="0">
                <a:cs typeface="Arial"/>
              </a:rPr>
              <a:t>עם 128 נקודות זה כ־3,900 בתים — עדיין כמו 10 טרנזקציות — וה־F1 יורד רק מכ־91 ל־87.5.</a:t>
            </a:r>
            <a:br>
              <a:rPr lang="he-IL" sz="1400" dirty="0"/>
            </a:br>
            <a:r>
              <a:rPr lang="he-IL" sz="1400" dirty="0">
                <a:cs typeface="Arial"/>
              </a:rPr>
              <a:t>עם 32 נקודות זה כ־1,000 בתים — בערך שתיים וחצי טרנזקציות — אבל ה־F1 יורד ל־76, בדיוק כמו sHash, שתופס רק 32 בתים.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כלומר, אין גודל שבו ORB גם נכנס לטרנזקציה וגם טוב יותר מ־sHash.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זו מגבלה אמיתית של מה שבנינו, ואנחנו מציגים אותה כממצא.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„הנה איך ORB עובד בפועל — שלושה שלבים.”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991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כדי לבדוק משהו מכל זה, צריך העתקים מתויגים.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הדאטה של המאמר לא ציבורי, אז בנינו משלנו: שלושת אלפים NFTים אמיתיים — Azuki, Bored Apes ו־CryptoPunks.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הם מגיעים בלי תיוג, אז ייצרנו את ההעתקים בעצמנו, לפי ששת סוגי העריכה של המאמר, שלוש וריאציות אקראיות לכל אחד, ועוד העתקים מדויקים וזוגות שלא מתאימים.</a:t>
            </a:r>
          </a:p>
          <a:p>
            <a:pPr algn="r" rtl="1"/>
            <a:r>
              <a:rPr lang="he-IL" sz="1400" dirty="0">
                <a:cs typeface="Arial"/>
              </a:rPr>
              <a:t>חילקנו לפי תמונת מקור לפני העריכה, כך שלאף תמונה אין העתקים בשני הצדדים — כל מה שבסט הבדיקה חדש.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נותן 11,400 העתקים אמיתיים ו־2,400 לא־העתקים.</a:t>
            </a:r>
          </a:p>
          <a:p>
            <a:pPr algn="r" rtl="1"/>
            <a:r>
              <a:rPr lang="he-IL" sz="1400" dirty="0">
                <a:cs typeface="Arial"/>
              </a:rPr>
              <a:t>וזה היתרון שהזכרנו בהתחלה: נתנו ל־sHash לבחור את הסף שלו כשהוא מסתכל על התשובות של סט הבדיקה — משהו שאי אפשר לעשות במציאות.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הסף של ORB נבחר רק על נתוני האימון.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אז כל השוואה שתבוא מוטה נגדנו.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„עם היתרון הזה במקום, הנה ההשוואה ראש בראש.”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זה המספר מההתחלה.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על העריכות ש־sHash נבנה בשבילן, ORB מקבל 90.6 מול 76.4 — ו־sHash הוא זה שקיבל את היתרון.</a:t>
            </a:r>
          </a:p>
          <a:p>
            <a:pPr algn="r" rtl="1"/>
            <a:r>
              <a:rPr lang="he-IL" sz="1400" dirty="0">
                <a:cs typeface="Arial"/>
              </a:rPr>
              <a:t>מישהו ישים לב שעמודת ה־recall נראית כמו תיקו: 89.8 מול 90.0.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אבל תסתכלו את מי כל אחד מאשים.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בסט הבדיקה יש 2,400 תמונות תמימות.</a:t>
            </a:r>
            <a:br>
              <a:rPr lang="he-IL" sz="1400" dirty="0"/>
            </a:br>
            <a:r>
              <a:rPr lang="he-IL" sz="1400" dirty="0">
                <a:cs typeface="Arial"/>
              </a:rPr>
              <a:t>sHash מאשים 1,630 מהן.</a:t>
            </a:r>
            <a:br>
              <a:rPr lang="he-IL" sz="1400" dirty="0"/>
            </a:br>
            <a:r>
              <a:rPr lang="he-IL" sz="1400" dirty="0">
                <a:cs typeface="Arial"/>
              </a:rPr>
              <a:t>ORB מאשים בערך 300.</a:t>
            </a:r>
            <a:br>
              <a:rPr lang="he-IL" sz="1400" dirty="0"/>
            </a:br>
            <a:r>
              <a:rPr lang="he-IL" sz="1400" dirty="0">
                <a:cs typeface="Arial"/>
              </a:rPr>
              <a:t>ככה sHash שומר על ה־recall שלו — הוא אומר ‚העתק’ כמעט לכל דבר.</a:t>
            </a:r>
          </a:p>
          <a:p>
            <a:pPr algn="r" rtl="1"/>
            <a:r>
              <a:rPr lang="he-IL" sz="1400" dirty="0">
                <a:cs typeface="Arial"/>
              </a:rPr>
              <a:t>תעמידו את שניהם על אותו precision, ו־sHash תופס 27% מההעתקים, בזמן ש־ORB תופס 90%.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לא תיקו.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פער פי שלושה.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„ומתברר שהוא טוב יותר ממה שציפינו — לא רק בחיתוך.”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אלה ה־recall של ORB לפי סוג העריכה — כמה מההעתקים מכל סוג הוא תופס.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הבאנו אותו בשביל חיתוך, והוא תופס 98% מהם.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אבל הוא גם תופס 99% מהרקעים שנצבעו מחדש, וכל לוגו שהודבק — 100% — וזה משהו שלא ציפינו לו.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אף אחת מהעריכות האלה לא פוגעת בצורות ש־ORB מחפש.</a:t>
            </a:r>
          </a:p>
          <a:p>
            <a:pPr algn="r" rtl="1"/>
            <a:r>
              <a:rPr lang="he-IL" sz="1400" dirty="0">
                <a:cs typeface="Arial"/>
              </a:rPr>
              <a:t>הוא נכשל במקום אחד בלבד: פיקסליזציה, 28%.</a:t>
            </a:r>
            <a:br>
              <a:rPr lang="he-IL" sz="1400" dirty="0"/>
            </a:br>
            <a:r>
              <a:rPr lang="he-IL" sz="1400" dirty="0">
                <a:cs typeface="Arial"/>
              </a:rPr>
              <a:t>פיקסליזציה הורסת את הפרטים העדינים שמהם בנויות פינות, אז לא נשאר מה למצוא.</a:t>
            </a:r>
            <a:br>
              <a:rPr lang="he-IL" sz="1400" dirty="0"/>
            </a:br>
            <a:r>
              <a:rPr lang="he-IL" sz="1400" dirty="0">
                <a:cs typeface="Arial"/>
              </a:rPr>
              <a:t>כישלון אחד נקי שאנחנו יודעים להסביר זה מקום טוב להיות בו — ושלוש טביעות האצבע האחרות עדיין מכסות את המקרה הזה.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„ובמערכת המלאה?”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מקצה לקצה.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לוקחים את הגלאי שלהם בדיוק כמו שפורסם — הספים שלהם, קפואים, בלי שום כיול מחדש — ומחליפים סיגנל אחד.</a:t>
            </a:r>
            <a:br>
              <a:rPr lang="he-IL" sz="1400" dirty="0"/>
            </a:br>
            <a:r>
              <a:rPr lang="he-IL" sz="1400" dirty="0">
                <a:cs typeface="Arial"/>
              </a:rPr>
              <a:t>הוא עולה מ־77.5 ל־86.4.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+8.9.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אם במקום זה מכיילים את הספים שלהם לדאטה שלנו — מה שעוזר להם, לא לנו — זה 81.7 מול 87.5.</a:t>
            </a:r>
            <a:br>
              <a:rPr lang="he-IL" sz="1400" dirty="0"/>
            </a:br>
            <a:r>
              <a:rPr lang="he-IL" sz="1400" dirty="0">
                <a:cs typeface="Arial"/>
              </a:rPr>
              <a:t>מנצח בכל מקרה.</a:t>
            </a:r>
          </a:p>
          <a:p>
            <a:pPr algn="r" rtl="1"/>
            <a:r>
              <a:rPr lang="he-IL" sz="1400" dirty="0">
                <a:cs typeface="Arial"/>
              </a:rPr>
              <a:t>הסתייגות אחת שאנחנו אומרים בקול: סט הבדיקה שלנו הוא ברובו העתקים, אז גלאי שפשוט אומר ‚כן’ לכל דבר כבר מקבל F1 גבוה.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לכן ההשוואה ההוגנת היא כמה העתקים כל אחד תופס כשהם אמינים באותה מידה כשהם מאשימים — שניהם צודקים 98% מהפעמים — ושם זה עולה מ־64% ל־77%.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„אז מה לקחנו מכל זה?”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שלושה דברים.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ראשון — לבדוק את המתמטיקה לפני שמאיצים.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יצאנו להפוך חיפוש למהיר יותר, וגילינו שהחיפוש עצמו לא תקין.</a:t>
            </a:r>
            <a:br>
              <a:rPr lang="he-IL" sz="1400" dirty="0"/>
            </a:br>
            <a:r>
              <a:rPr lang="he-IL" sz="1400" dirty="0">
                <a:cs typeface="Arial"/>
              </a:rPr>
              <a:t>מהירות לא שווה כלום עד שהכלי נכון.</a:t>
            </a:r>
          </a:p>
          <a:p>
            <a:pPr algn="r" rtl="1"/>
            <a:r>
              <a:rPr lang="he-IL" sz="1400" dirty="0">
                <a:cs typeface="Arial"/>
              </a:rPr>
              <a:t>שני — הדרך שבה שומרים סיגנל קובעת איך אפשר לחפש בו.</a:t>
            </a:r>
            <a:br>
              <a:rPr lang="he-IL" sz="1400" dirty="0"/>
            </a:br>
            <a:r>
              <a:rPr lang="he-IL" sz="1400" dirty="0">
                <a:cs typeface="Arial"/>
              </a:rPr>
              <a:t>טביעת אצבע אחת מתאימה לעץ; קבוצת נקודות ציון צריכה אינדקס אחר לגמרי.</a:t>
            </a:r>
            <a:br>
              <a:rPr lang="he-IL" sz="1400" dirty="0"/>
            </a:br>
            <a:r>
              <a:rPr lang="he-IL" sz="1400" dirty="0">
                <a:cs typeface="Arial"/>
              </a:rPr>
              <a:t>אי אפשר לבחור את הסיגנל ואת האחסון בנפרד — וזה מה שה־14 וחצי קילובייט באמת אומרים לנו.</a:t>
            </a:r>
          </a:p>
          <a:p>
            <a:pPr algn="r" rtl="1"/>
            <a:r>
              <a:rPr lang="he-IL" sz="1400" dirty="0">
                <a:cs typeface="Arial"/>
              </a:rPr>
              <a:t>שלישי — תוצאה שלילית היא עדיין תוצאה.</a:t>
            </a:r>
            <a:br>
              <a:rPr lang="he-IL" sz="1400" dirty="0"/>
            </a:br>
            <a:r>
              <a:rPr lang="he-IL" sz="1400" dirty="0">
                <a:cs typeface="Arial"/>
              </a:rPr>
              <a:t>בנינו את ה־edit classifier, מדדנו אותו, והוא לא שיפר את הדיוק — כי טביעת אצבע שבורה כאן פשוט שותקת במקום להצביע לא נכון, אז להשתיק אותה לא משנה כלום.</a:t>
            </a:r>
            <a:br>
              <a:rPr lang="he-IL" sz="1400" dirty="0"/>
            </a:br>
            <a:r>
              <a:rPr lang="he-IL" sz="1400" dirty="0">
                <a:cs typeface="Arial"/>
              </a:rPr>
              <a:t>נשמח להרחיב על זה.</a:t>
            </a:r>
          </a:p>
          <a:p>
            <a:pPr algn="r" rtl="1"/>
            <a:endParaRPr lang="he-IL" sz="1400" dirty="0"/>
          </a:p>
          <a:p>
            <a:pPr algn="r" rtl="1"/>
            <a:r>
              <a:rPr lang="he-IL" sz="1400" dirty="0">
                <a:cs typeface="Arial"/>
              </a:rPr>
              <a:t>מעבר: „לסיכום.” (שקופית 20 מוסתרת — ישר לשקופית 21)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400" dirty="0">
                <a:cs typeface="Arial"/>
              </a:rPr>
              <a:t>אז, לסיכום — מה הראינו.</a:t>
            </a:r>
          </a:p>
          <a:p>
            <a:pPr algn="r" rtl="1"/>
            <a:r>
              <a:rPr lang="he-IL" sz="1400" dirty="0">
                <a:cs typeface="Arial"/>
              </a:rPr>
              <a:t>המאמר: ארבע טביעות אצבע מצביעות, וכששתיים מסכימות — זה העתק.</a:t>
            </a:r>
          </a:p>
          <a:p>
            <a:pPr algn="r" rtl="1"/>
            <a:r>
              <a:rPr lang="he-IL" sz="1400" dirty="0">
                <a:cs typeface="Arial"/>
              </a:rPr>
              <a:t>המטרה שלנו: להפוך את זה למהיר יותר.</a:t>
            </a:r>
          </a:p>
          <a:p>
            <a:pPr algn="r" rtl="1"/>
            <a:r>
              <a:rPr lang="he-IL" sz="1400" dirty="0">
                <a:cs typeface="Arial"/>
              </a:rPr>
              <a:t>מה מצאנו: אחת מהארבע, sHash, אי אפשר לחפש בה נכון — וכשהיא נכשלת, היא מפספסת העתקים אמיתיים בשקט.</a:t>
            </a:r>
          </a:p>
          <a:p>
            <a:pPr algn="r" rtl="1"/>
            <a:r>
              <a:rPr lang="he-IL" sz="1400" dirty="0">
                <a:cs typeface="Arial"/>
              </a:rPr>
              <a:t>מה עשינו: החלפנו אותה בהתאמת features — נקודות ציון, RANSAC כדי לשמור רק את ההתאמות שמסכימות, ואינדקס כדי שזה יגדל.</a:t>
            </a:r>
          </a:p>
          <a:p>
            <a:pPr algn="r" rtl="1"/>
            <a:r>
              <a:rPr lang="he-IL" sz="1400" dirty="0">
                <a:cs typeface="Arial"/>
              </a:rPr>
              <a:t>התוצאה: ארבע־עשרה נקודות יותר טוב בעבודה ש־sHash נבנה בשבילה, כמעט תשע נקודות יותר טוב בגלאי המלא כמו שהמאמר פרסם אותו — אבל גדול מדי בשביל לשמור על הבלוקצ׳יין.</a:t>
            </a:r>
          </a:p>
          <a:p>
            <a:pPr algn="r" rtl="1"/>
            <a:r>
              <a:rPr lang="he-IL" sz="1400" dirty="0">
                <a:cs typeface="Arial"/>
              </a:rPr>
              <a:t>[הפסקה] סיגנל אחד הוחלף, נמדד ביושר, והמחיר שלו נאמר.</a:t>
            </a:r>
            <a:br>
              <a:rPr lang="he-IL" sz="1400" dirty="0"/>
            </a:br>
            <a:r>
              <a:rPr lang="he-IL" sz="1400" dirty="0">
                <a:cs typeface="Arial"/>
              </a:rPr>
              <a:t>זה הפרויקט.</a:t>
            </a:r>
          </a:p>
          <a:p>
            <a:pPr algn="r" rtl="1"/>
            <a:r>
              <a:rPr lang="he-IL" sz="1400" dirty="0">
                <a:cs typeface="Arial"/>
              </a:rPr>
              <a:t>תודה — נשמח לשאלות.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1" y="3453437"/>
            <a:ext cx="11958615" cy="221377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2150141" y="3453437"/>
            <a:ext cx="4103213" cy="22137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7185" y="3644945"/>
            <a:ext cx="10859906" cy="1830760"/>
          </a:xfrm>
        </p:spPr>
        <p:txBody>
          <a:bodyPr anchor="b">
            <a:noAutofit/>
          </a:bodyPr>
          <a:lstStyle>
            <a:lvl1pPr algn="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7185" y="5858720"/>
            <a:ext cx="10859906" cy="1490249"/>
          </a:xfrm>
        </p:spPr>
        <p:txBody>
          <a:bodyPr>
            <a:normAutofit/>
          </a:bodyPr>
          <a:lstStyle>
            <a:lvl1pPr marL="0" indent="0" algn="r">
              <a:buNone/>
              <a:defRPr sz="2667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341667" y="3667116"/>
            <a:ext cx="1562670" cy="1808589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31926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494383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-3" y="3635023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4115813" y="3635023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5" y="3826527"/>
            <a:ext cx="12819732" cy="1454384"/>
          </a:xfrm>
        </p:spPr>
        <p:txBody>
          <a:bodyPr anchor="ctr">
            <a:normAutofit/>
          </a:bodyPr>
          <a:lstStyle>
            <a:lvl1pPr algn="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7185" y="5642895"/>
            <a:ext cx="12819732" cy="2272023"/>
          </a:xfrm>
        </p:spPr>
        <p:txBody>
          <a:bodyPr>
            <a:normAutofit/>
          </a:bodyPr>
          <a:lstStyle>
            <a:lvl1pPr marL="0" indent="0" algn="r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07338" y="3826528"/>
            <a:ext cx="1539018" cy="145438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49690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7182" y="3115831"/>
            <a:ext cx="6265089" cy="4799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59559" y="3115831"/>
            <a:ext cx="6267356" cy="4799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90101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1" y="1004306"/>
            <a:ext cx="12819736" cy="14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8585" y="3115831"/>
            <a:ext cx="5963685" cy="92418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7185" y="4040012"/>
            <a:ext cx="6265085" cy="38749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760964" y="3115831"/>
            <a:ext cx="5965953" cy="922768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59560" y="4040012"/>
            <a:ext cx="6267358" cy="38749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78230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321678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82687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4" y="1004303"/>
            <a:ext cx="12819731" cy="1441253"/>
          </a:xfrm>
        </p:spPr>
        <p:txBody>
          <a:bodyPr anchor="ctr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48405" y="3115831"/>
            <a:ext cx="7478512" cy="47990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5" y="3115830"/>
            <a:ext cx="5053931" cy="4799089"/>
          </a:xfrm>
        </p:spPr>
        <p:txBody>
          <a:bodyPr anchor="ctr"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541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7" y="1004304"/>
            <a:ext cx="12819728" cy="1441251"/>
          </a:xfrm>
        </p:spPr>
        <p:txBody>
          <a:bodyPr anchor="ctr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91745" y="3115832"/>
            <a:ext cx="7235172" cy="4799083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6" y="3115831"/>
            <a:ext cx="5168846" cy="4799087"/>
          </a:xfrm>
        </p:spPr>
        <p:txBody>
          <a:bodyPr anchor="ctr"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10970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ltGray">
          <a:xfrm>
            <a:off x="0" y="6090651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4115816" y="6090651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5" y="6282155"/>
            <a:ext cx="12819731" cy="6040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7185" y="812797"/>
            <a:ext cx="12819731" cy="4786100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1" y="6892778"/>
            <a:ext cx="12819735" cy="830628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4307338" y="6281746"/>
            <a:ext cx="1539018" cy="145438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561094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ltGray">
          <a:xfrm>
            <a:off x="0" y="6090651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4115816" y="6090651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4" y="812796"/>
            <a:ext cx="12819730" cy="4790333"/>
          </a:xfrm>
        </p:spPr>
        <p:txBody>
          <a:bodyPr anchor="ctr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5" y="6282154"/>
            <a:ext cx="12819731" cy="1454385"/>
          </a:xfrm>
        </p:spPr>
        <p:txBody>
          <a:bodyPr anchor="ctr"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4307338" y="6282154"/>
            <a:ext cx="1539018" cy="145438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26052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 bwMode="ltGray">
          <a:xfrm>
            <a:off x="0" y="6090651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4115816" y="6090651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03956" y="812798"/>
            <a:ext cx="11626305" cy="4048081"/>
          </a:xfrm>
        </p:spPr>
        <p:txBody>
          <a:bodyPr anchor="ctr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869901" y="4871172"/>
            <a:ext cx="10876501" cy="731957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5" y="6282154"/>
            <a:ext cx="12819731" cy="1454385"/>
          </a:xfrm>
        </p:spPr>
        <p:txBody>
          <a:bodyPr anchor="ctr">
            <a:normAutofit/>
          </a:bodyPr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4307338" y="6279901"/>
            <a:ext cx="1539018" cy="145438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778172" y="997488"/>
            <a:ext cx="812879" cy="779701"/>
          </a:xfrm>
          <a:prstGeom prst="rect">
            <a:avLst/>
          </a:prstGeom>
        </p:spPr>
        <p:txBody>
          <a:bodyPr vert="horz" lIns="121920" tIns="60960" rIns="121920" bIns="6096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96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85004" y="4044699"/>
            <a:ext cx="812879" cy="779701"/>
          </a:xfrm>
          <a:prstGeom prst="rect">
            <a:avLst/>
          </a:prstGeom>
        </p:spPr>
        <p:txBody>
          <a:bodyPr vert="horz" lIns="121920" tIns="60960" rIns="121920" bIns="6096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96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84985741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ltGray">
          <a:xfrm>
            <a:off x="0" y="6090651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4115816" y="6090651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7181" y="6282154"/>
            <a:ext cx="12819735" cy="784713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7182" y="7066866"/>
            <a:ext cx="12819735" cy="669673"/>
          </a:xfrm>
        </p:spPr>
        <p:txBody>
          <a:bodyPr anchor="t"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4307338" y="6279901"/>
            <a:ext cx="1539018" cy="145438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70187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92383" y="1004304"/>
            <a:ext cx="12834534" cy="14412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81347" y="3115831"/>
            <a:ext cx="4093779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07184" y="4030231"/>
            <a:ext cx="4066667" cy="3884684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75215" y="3115831"/>
            <a:ext cx="4084719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5261141" y="4030231"/>
            <a:ext cx="4084719" cy="3884684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9633149" y="3115831"/>
            <a:ext cx="4093767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9633149" y="4030231"/>
            <a:ext cx="4093767" cy="3884684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49711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07185" y="1004304"/>
            <a:ext cx="12819732" cy="14412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07180" y="5730004"/>
            <a:ext cx="4066671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07180" y="3115831"/>
            <a:ext cx="4066671" cy="2032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133"/>
            </a:lvl1pPr>
            <a:lvl2pPr marL="609585" indent="0">
              <a:buNone/>
              <a:defRPr sz="2133"/>
            </a:lvl2pPr>
            <a:lvl3pPr marL="1219170" indent="0">
              <a:buNone/>
              <a:defRPr sz="2133"/>
            </a:lvl3pPr>
            <a:lvl4pPr marL="1828754" indent="0">
              <a:buNone/>
              <a:defRPr sz="2133"/>
            </a:lvl4pPr>
            <a:lvl5pPr marL="2438339" indent="0">
              <a:buNone/>
              <a:defRPr sz="2133"/>
            </a:lvl5pPr>
            <a:lvl6pPr marL="3047924" indent="0">
              <a:buNone/>
              <a:defRPr sz="2133"/>
            </a:lvl6pPr>
            <a:lvl7pPr marL="3657509" indent="0">
              <a:buNone/>
              <a:defRPr sz="2133"/>
            </a:lvl7pPr>
            <a:lvl8pPr marL="4267093" indent="0">
              <a:buNone/>
              <a:defRPr sz="2133"/>
            </a:lvl8pPr>
            <a:lvl9pPr marL="4876678" indent="0">
              <a:buNone/>
              <a:defRPr sz="21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07180" y="6498353"/>
            <a:ext cx="4066671" cy="1416563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61142" y="5730004"/>
            <a:ext cx="4084719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5261141" y="3115831"/>
            <a:ext cx="4084719" cy="2032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133"/>
            </a:lvl1pPr>
            <a:lvl2pPr marL="609585" indent="0">
              <a:buNone/>
              <a:defRPr sz="2133"/>
            </a:lvl2pPr>
            <a:lvl3pPr marL="1219170" indent="0">
              <a:buNone/>
              <a:defRPr sz="2133"/>
            </a:lvl3pPr>
            <a:lvl4pPr marL="1828754" indent="0">
              <a:buNone/>
              <a:defRPr sz="2133"/>
            </a:lvl4pPr>
            <a:lvl5pPr marL="2438339" indent="0">
              <a:buNone/>
              <a:defRPr sz="2133"/>
            </a:lvl5pPr>
            <a:lvl6pPr marL="3047924" indent="0">
              <a:buNone/>
              <a:defRPr sz="2133"/>
            </a:lvl6pPr>
            <a:lvl7pPr marL="3657509" indent="0">
              <a:buNone/>
              <a:defRPr sz="2133"/>
            </a:lvl7pPr>
            <a:lvl8pPr marL="4267093" indent="0">
              <a:buNone/>
              <a:defRPr sz="2133"/>
            </a:lvl8pPr>
            <a:lvl9pPr marL="4876678" indent="0">
              <a:buNone/>
              <a:defRPr sz="21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5259337" y="6498352"/>
            <a:ext cx="4090129" cy="1416563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9641847" y="5730004"/>
            <a:ext cx="4085072" cy="768349"/>
          </a:xfrm>
        </p:spPr>
        <p:txBody>
          <a:bodyPr anchor="b">
            <a:noAutofit/>
          </a:bodyPr>
          <a:lstStyle>
            <a:lvl1pPr marL="0" indent="0">
              <a:buNone/>
              <a:defRPr sz="3200" b="0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9641845" y="3115831"/>
            <a:ext cx="4085072" cy="2032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133"/>
            </a:lvl1pPr>
            <a:lvl2pPr marL="609585" indent="0">
              <a:buNone/>
              <a:defRPr sz="2133"/>
            </a:lvl2pPr>
            <a:lvl3pPr marL="1219170" indent="0">
              <a:buNone/>
              <a:defRPr sz="2133"/>
            </a:lvl3pPr>
            <a:lvl4pPr marL="1828754" indent="0">
              <a:buNone/>
              <a:defRPr sz="2133"/>
            </a:lvl4pPr>
            <a:lvl5pPr marL="2438339" indent="0">
              <a:buNone/>
              <a:defRPr sz="2133"/>
            </a:lvl5pPr>
            <a:lvl6pPr marL="3047924" indent="0">
              <a:buNone/>
              <a:defRPr sz="2133"/>
            </a:lvl6pPr>
            <a:lvl7pPr marL="3657509" indent="0">
              <a:buNone/>
              <a:defRPr sz="2133"/>
            </a:lvl7pPr>
            <a:lvl8pPr marL="4267093" indent="0">
              <a:buNone/>
              <a:defRPr sz="2133"/>
            </a:lvl8pPr>
            <a:lvl9pPr marL="4876678" indent="0">
              <a:buNone/>
              <a:defRPr sz="21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9641680" y="6498349"/>
            <a:ext cx="4090484" cy="1416563"/>
          </a:xfrm>
        </p:spPr>
        <p:txBody>
          <a:bodyPr anchor="t">
            <a:normAutofit/>
          </a:bodyPr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116768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812800"/>
            <a:ext cx="13918442" cy="182426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4115816" y="812800"/>
            <a:ext cx="2137538" cy="1824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740334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10822999" y="2492438"/>
            <a:ext cx="6809317" cy="182444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13158993" y="7163115"/>
            <a:ext cx="2137329" cy="18244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506961" y="812796"/>
            <a:ext cx="1431876" cy="58050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07185" y="812797"/>
            <a:ext cx="11827827" cy="710211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077055" y="7914917"/>
            <a:ext cx="3657957" cy="486833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10/7/26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07184" y="7914918"/>
            <a:ext cx="8169871" cy="48683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3464716" y="7198178"/>
            <a:ext cx="1539018" cy="1454385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179824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183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7184" y="1004304"/>
            <a:ext cx="12819734" cy="14412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7184" y="3115831"/>
            <a:ext cx="12819734" cy="4799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68958" y="7914917"/>
            <a:ext cx="3657957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7183" y="7914918"/>
            <a:ext cx="91617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307338" y="1004304"/>
            <a:ext cx="1539018" cy="14543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2886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</p:sldLayoutIdLst>
  <p:hf sldNum="0" hdr="0" ftr="0" dt="0"/>
  <p:txStyles>
    <p:titleStyle>
      <a:lvl1pPr algn="l" defTabSz="1219170" rtl="1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r" defTabSz="1219170" rtl="1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r" defTabSz="1219170" rtl="1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r" defTabSz="1219170" rtl="1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77240"/>
            <a:ext cx="14794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Detecting Copied NFT Images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a broken signal in a published copymint detector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176272" y="2871216"/>
            <a:ext cx="3310128" cy="3310128"/>
          </a:xfrm>
          <a:prstGeom prst="rect">
            <a:avLst/>
          </a:prstGeom>
          <a:solidFill>
            <a:srgbClr val="FFFFFF"/>
          </a:solidFill>
          <a:ln w="254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6" name="Image 0" descr="/Users/rabeayassin/Developer/nft-dup-heuristic-router/data/example/generated/images/azuki_#8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136" y="2926080"/>
            <a:ext cx="3200400" cy="3200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73936" y="6236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73952" y="2871216"/>
            <a:ext cx="3310128" cy="3310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9" name="Image 1" descr="/Users/rabeayassin/Developer/nft-dup-heuristic-router/data/example/generated/images/azuki_#824__flip_rotate_mirror_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926080"/>
            <a:ext cx="3200400" cy="3200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071616" y="6236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rotated copy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10771632" y="2871216"/>
            <a:ext cx="3310128" cy="3310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2" name="Image 2" descr="/Users/rabeayassin/Developer/nft-dup-heuristic-router/data/example/generated/images/azuki_#824__color_swap_modify_saturate_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6496" y="2926080"/>
            <a:ext cx="3200400" cy="3200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369296" y="6236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recoloured copy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31536" y="4526280"/>
            <a:ext cx="1097280" cy="0"/>
          </a:xfrm>
          <a:prstGeom prst="line">
            <a:avLst/>
          </a:prstGeom>
          <a:noFill/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0"/>
          <p:cNvSpPr/>
          <p:nvPr/>
        </p:nvSpPr>
        <p:spPr>
          <a:xfrm>
            <a:off x="9729216" y="4526280"/>
            <a:ext cx="1097280" cy="0"/>
          </a:xfrm>
          <a:prstGeom prst="line">
            <a:avLst/>
          </a:prstGeom>
          <a:noFill/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1"/>
          <p:cNvSpPr/>
          <p:nvPr/>
        </p:nvSpPr>
        <p:spPr>
          <a:xfrm>
            <a:off x="731520" y="7726680"/>
            <a:ext cx="14794992" cy="0"/>
          </a:xfrm>
          <a:prstGeom prst="line">
            <a:avLst/>
          </a:prstGeom>
          <a:noFill/>
          <a:ln w="1270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2"/>
          <p:cNvSpPr txBox="1"/>
          <p:nvPr/>
        </p:nvSpPr>
        <p:spPr>
          <a:xfrm>
            <a:off x="731520" y="786384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Rabea Yassin  ·  Ahmad Nassar</a:t>
            </a:r>
            <a:endParaRPr lang="en-US" sz="2200" dirty="0"/>
          </a:p>
          <a:p>
            <a:pPr marL="0" indent="0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Instructor: Eran Tavor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Result, Up Front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+14.2</a:t>
            </a:r>
            <a:endParaRPr lang="en-US" sz="1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97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points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2064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replaced one piece of a published detector.</a:t>
            </a:r>
            <a:endParaRPr lang="en-US" sz="2100" dirty="0"/>
          </a:p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piece got 14 points better at what it was built for.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22960" y="6720840"/>
            <a:ext cx="6766560" cy="128016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1051560" y="68122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we gave the old piece an unfair advantage first.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26517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 — our replacement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503920" y="3154680"/>
            <a:ext cx="4887834" cy="1005840"/>
          </a:xfrm>
          <a:prstGeom prst="rect">
            <a:avLst/>
          </a:prstGeom>
          <a:solidFill>
            <a:srgbClr val="1A5FB4"/>
          </a:solidFill>
          <a:ln w="127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 txBox="1"/>
          <p:nvPr/>
        </p:nvSpPr>
        <p:spPr>
          <a:xfrm>
            <a:off x="13574634" y="32004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90.6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45720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sHash — the paper's signal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503920" y="5074920"/>
            <a:ext cx="4121749" cy="1005840"/>
          </a:xfrm>
          <a:prstGeom prst="rect">
            <a:avLst/>
          </a:prstGeom>
          <a:solidFill>
            <a:srgbClr val="9AA0A6"/>
          </a:solidFill>
          <a:ln w="1270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 txBox="1"/>
          <p:nvPr/>
        </p:nvSpPr>
        <p:spPr>
          <a:xfrm>
            <a:off x="12808549" y="5120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76.4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65379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score on the edits sHash was designed for</a:t>
            </a:r>
            <a:endParaRPr lang="en-US" sz="1500" dirty="0"/>
          </a:p>
        </p:txBody>
      </p:sp>
    </p:spTree>
  </p:cSld>
  <p:clrMapOvr>
    <a:masterClrMapping/>
  </p:clrMapOvr>
  <p:transition spd="med">
    <p:pull/>
    <p:sndAc>
      <p:stSnd>
        <p:snd r:embed="rId3" name="Woooow by 3ta.wav"/>
      </p:stSnd>
    </p:sndAc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Cover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488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2221992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we started from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the problem, and their solution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19272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3392424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set out to build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a faster version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897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4562856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instead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one of their four signals is broken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66013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5733288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replaced it with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and how it works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83056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6903720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Results, lessons, what's next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Small Edits Defeat Exact Matching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copymint takes someone's artwork, edits it a little, and sells it as new.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246888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6" name="Image 0" descr="/Users/rabeayassin/Developer/nft-dup-heuristic-router/data/example/generated/images/azuki_#8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94560"/>
            <a:ext cx="2377440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6451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5257800"/>
            <a:ext cx="246888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9" name="Image 1" descr="/Users/rabeayassin/Developer/nft-dup-heuristic-router/data/example/generated/images/azuki_#824__color_swap_modify_saturate_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303520"/>
            <a:ext cx="2377440" cy="23774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77541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copy — colours changed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023360" y="2194560"/>
            <a:ext cx="11503152" cy="228600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8"/>
          <p:cNvSpPr txBox="1"/>
          <p:nvPr/>
        </p:nvSpPr>
        <p:spPr>
          <a:xfrm>
            <a:off x="4343400" y="2377440"/>
            <a:ext cx="108630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hashing can't see it</a:t>
            </a:r>
            <a:endParaRPr lang="en-US" sz="24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SHA-256(original)      7e3565cbc039c585…</a:t>
            </a:r>
            <a:endParaRPr lang="en-US" sz="2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SHA-256(the copy)      6941987a9f1664a7…</a:t>
            </a:r>
            <a:endParaRPr lang="en-US" sz="24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changed pixel gives a completely unrelated result.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4023360" y="4754880"/>
            <a:ext cx="11503152" cy="310896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 txBox="1"/>
          <p:nvPr/>
        </p:nvSpPr>
        <p:spPr>
          <a:xfrm>
            <a:off x="4343400" y="4937760"/>
            <a:ext cx="108630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you need a fingerprint of what the image looks like</a:t>
            </a:r>
            <a:endParaRPr lang="en-US" sz="24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aHash(original)        f8c08087f7f2f121</a:t>
            </a:r>
            <a:endParaRPr lang="en-US" sz="2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aHash(the copy)        f8c08087fffaf121</a:t>
            </a:r>
            <a:endParaRPr lang="en-US" sz="2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bits different out of 64 — similar pictures, similar fingerprints. That works.</a:t>
            </a:r>
            <a:endParaRPr lang="en-US" sz="2400" dirty="0"/>
          </a:p>
          <a:p>
            <a:pPr marL="0" indent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rotate and mirror the same image and it moves 37 bits. That blind spot is where our project starts.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Researchers Built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fingerprints per image — each survives a different kind of edit. At least two must agree to call something a copy.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233672"/>
            <a:ext cx="23774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 txBox="1"/>
          <p:nvPr/>
        </p:nvSpPr>
        <p:spPr>
          <a:xfrm>
            <a:off x="1051560" y="4325112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image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NFT to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0" y="2331720"/>
            <a:ext cx="39319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4800600" y="242316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aHash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rough brightness layout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509760" y="2331720"/>
            <a:ext cx="228600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 txBox="1"/>
          <p:nvPr/>
        </p:nvSpPr>
        <p:spPr>
          <a:xfrm>
            <a:off x="9738360" y="2423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tree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931920" y="2811780"/>
            <a:ext cx="6400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8503920" y="2811780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11795760" y="2811780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4572000" y="3675888"/>
            <a:ext cx="39319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 txBox="1"/>
          <p:nvPr/>
        </p:nvSpPr>
        <p:spPr>
          <a:xfrm>
            <a:off x="4800600" y="37673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pHash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coarse shapes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509760" y="3675888"/>
            <a:ext cx="228600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 txBox="1"/>
          <p:nvPr/>
        </p:nvSpPr>
        <p:spPr>
          <a:xfrm>
            <a:off x="9738360" y="37673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tree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931920" y="4155948"/>
            <a:ext cx="6400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8503920" y="4155948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795760" y="4155948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572000" y="5020056"/>
            <a:ext cx="393192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 txBox="1"/>
          <p:nvPr/>
        </p:nvSpPr>
        <p:spPr>
          <a:xfrm>
            <a:off x="4800600" y="511149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hsvHash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 of colours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509760" y="5020056"/>
            <a:ext cx="228600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 txBox="1"/>
          <p:nvPr/>
        </p:nvSpPr>
        <p:spPr>
          <a:xfrm>
            <a:off x="9738360" y="5111496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tree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931920" y="5500116"/>
            <a:ext cx="6400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8503920" y="5500116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11795760" y="5500116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4572000" y="6364224"/>
            <a:ext cx="3931920" cy="960120"/>
          </a:xfrm>
          <a:prstGeom prst="rect">
            <a:avLst/>
          </a:prstGeom>
          <a:solidFill>
            <a:srgbClr val="EEF3FB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 txBox="1"/>
          <p:nvPr/>
        </p:nvSpPr>
        <p:spPr>
          <a:xfrm>
            <a:off x="4800600" y="645566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sHash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pieces of the image — their answer to cropping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509760" y="6364224"/>
            <a:ext cx="228600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 txBox="1"/>
          <p:nvPr/>
        </p:nvSpPr>
        <p:spPr>
          <a:xfrm>
            <a:off x="9738360" y="645566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931920" y="6844284"/>
            <a:ext cx="6400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3" name="Shape 31"/>
          <p:cNvSpPr/>
          <p:nvPr/>
        </p:nvSpPr>
        <p:spPr>
          <a:xfrm>
            <a:off x="8503920" y="6844284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11795760" y="6844284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3931920" y="2811780"/>
            <a:ext cx="0" cy="4032504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200400" y="4828032"/>
            <a:ext cx="73152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2801600" y="2811780"/>
            <a:ext cx="0" cy="4032504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12801600" y="4828032"/>
            <a:ext cx="5486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9" name="Shape 37"/>
          <p:cNvSpPr/>
          <p:nvPr/>
        </p:nvSpPr>
        <p:spPr>
          <a:xfrm>
            <a:off x="13350240" y="4050792"/>
            <a:ext cx="2194560" cy="1554480"/>
          </a:xfrm>
          <a:prstGeom prst="rect">
            <a:avLst/>
          </a:prstGeom>
          <a:solidFill>
            <a:srgbClr val="FFFFFF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 txBox="1"/>
          <p:nvPr/>
        </p:nvSpPr>
        <p:spPr>
          <a:xfrm>
            <a:off x="13578840" y="4142232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of 4</a:t>
            </a:r>
            <a:endParaRPr lang="en-US" sz="16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agree?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" y="7772400"/>
            <a:ext cx="14612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agreeing is what keeps the false alarms down — no single fingerprint survives every edit.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Set Out to Build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original goal was efficiency — make their detector cheaper to run. The idea: an edit classifier.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23774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 txBox="1"/>
          <p:nvPr/>
        </p:nvSpPr>
        <p:spPr>
          <a:xfrm>
            <a:off x="1051560" y="37033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image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06240" y="3520440"/>
            <a:ext cx="384048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4434840" y="36118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 classifier</a:t>
            </a:r>
            <a:endParaRPr lang="en-US" sz="16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kind of edit is this?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4251960"/>
            <a:ext cx="10058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046720" y="4251960"/>
            <a:ext cx="73152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8778240" y="2743200"/>
            <a:ext cx="0" cy="301752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9326880" y="2331720"/>
            <a:ext cx="29260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 txBox="1"/>
          <p:nvPr/>
        </p:nvSpPr>
        <p:spPr>
          <a:xfrm>
            <a:off x="9555480" y="24231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aHash tree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78240" y="2743200"/>
            <a:ext cx="5486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9326880" y="3337560"/>
            <a:ext cx="29260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 txBox="1"/>
          <p:nvPr/>
        </p:nvSpPr>
        <p:spPr>
          <a:xfrm>
            <a:off x="9555480" y="34290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pHash tree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778240" y="3749040"/>
            <a:ext cx="54864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9326880" y="4343400"/>
            <a:ext cx="2926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 txBox="1"/>
          <p:nvPr/>
        </p:nvSpPr>
        <p:spPr>
          <a:xfrm>
            <a:off x="955548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hsvHash tree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778240" y="4754880"/>
            <a:ext cx="54864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 txBox="1"/>
          <p:nvPr/>
        </p:nvSpPr>
        <p:spPr>
          <a:xfrm>
            <a:off x="12481560" y="45079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skipped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326880" y="5349240"/>
            <a:ext cx="2926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 txBox="1"/>
          <p:nvPr/>
        </p:nvSpPr>
        <p:spPr>
          <a:xfrm>
            <a:off x="9555480" y="5440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sHash tree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778240" y="5760720"/>
            <a:ext cx="54864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 txBox="1"/>
          <p:nvPr/>
        </p:nvSpPr>
        <p:spPr>
          <a:xfrm>
            <a:off x="12481560" y="55138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skipped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6400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searches per query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31520" y="6858000"/>
            <a:ext cx="14794992" cy="128016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 txBox="1"/>
          <p:nvPr/>
        </p:nvSpPr>
        <p:spPr>
          <a:xfrm>
            <a:off x="960120" y="6949440"/>
            <a:ext cx="14337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build it we had to understand exactly what each of the four signals does — </a:t>
            </a:r>
            <a:r>
              <a:rPr lang="en-US" sz="21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is where the project changed.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8229600"/>
            <a:ext cx="14794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(We'll come back to it at the end.)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Found: sHash Isn't a Distance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sHash cuts an image into pieces and fingerprints each piece. Comparing two images means matching the two lists — and that comparison runs one way.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1371600" y="2743200"/>
            <a:ext cx="4206240" cy="2468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212848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2990088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3767328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 txBox="1"/>
          <p:nvPr/>
        </p:nvSpPr>
        <p:spPr>
          <a:xfrm>
            <a:off x="1371600" y="4526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pieces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698480" y="2743200"/>
            <a:ext cx="4206240" cy="2468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 txBox="1"/>
          <p:nvPr/>
        </p:nvSpPr>
        <p:spPr>
          <a:xfrm>
            <a:off x="10698480" y="2971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B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1155680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932920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2710160" y="3657600"/>
            <a:ext cx="60350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3487400" y="3657600"/>
            <a:ext cx="603504" cy="603504"/>
          </a:xfrm>
          <a:prstGeom prst="rect">
            <a:avLst/>
          </a:prstGeom>
          <a:solidFill>
            <a:srgbClr val="EEF3FB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 txBox="1"/>
          <p:nvPr/>
        </p:nvSpPr>
        <p:spPr>
          <a:xfrm>
            <a:off x="10515600" y="4526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pieces — one has no match in A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577840" y="3383280"/>
            <a:ext cx="5120640" cy="0"/>
          </a:xfrm>
          <a:prstGeom prst="line">
            <a:avLst/>
          </a:prstGeom>
          <a:noFill/>
          <a:ln w="25400">
            <a:solidFill>
              <a:srgbClr val="2B2B2B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 txBox="1"/>
          <p:nvPr/>
        </p:nvSpPr>
        <p:spPr>
          <a:xfrm>
            <a:off x="5577840" y="2788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compared to B   =   2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 flipH="1">
            <a:off x="5577840" y="4663440"/>
            <a:ext cx="5120640" cy="0"/>
          </a:xfrm>
          <a:prstGeom prst="line">
            <a:avLst/>
          </a:prstGeom>
          <a:noFill/>
          <a:ln w="25400">
            <a:solidFill>
              <a:srgbClr val="A33A4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 txBox="1"/>
          <p:nvPr/>
        </p:nvSpPr>
        <p:spPr>
          <a:xfrm>
            <a:off x="5577840" y="47548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A33A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compared to A   =   10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731520" y="5989320"/>
            <a:ext cx="14794992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 txBox="1"/>
          <p:nvPr/>
        </p:nvSpPr>
        <p:spPr>
          <a:xfrm>
            <a:off x="960120" y="6080760"/>
            <a:ext cx="14337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two images. Two different answers. </a:t>
            </a:r>
            <a:r>
              <a:rPr lang="en-US" sz="24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not a distance.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7498080"/>
            <a:ext cx="1479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data file the authors shared with us, the reported distance matches one direction on all 1,802 pairs — and the other direction on only 240.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That Breaks the Search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saves time by skipping branches. That only works if the direct route is never longer than the detour.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 flipV="1">
            <a:off x="2560320" y="4114800"/>
            <a:ext cx="1097280" cy="128016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5394960" y="4114800"/>
            <a:ext cx="1097280" cy="1280160"/>
          </a:xfrm>
          <a:prstGeom prst="line">
            <a:avLst/>
          </a:prstGeom>
          <a:noFill/>
          <a:ln w="22225">
            <a:solidFill>
              <a:srgbClr val="8A8F98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2560320" y="6263640"/>
            <a:ext cx="3931920" cy="0"/>
          </a:xfrm>
          <a:prstGeom prst="line">
            <a:avLst/>
          </a:prstGeom>
          <a:noFill/>
          <a:ln w="28575">
            <a:solidFill>
              <a:srgbClr val="A33A47"/>
            </a:solidFill>
            <a:prstDash val="dash"/>
            <a:tailEnd type="triangle" w="med" len="me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1737360" cy="1737360"/>
          </a:xfrm>
          <a:prstGeom prst="rect">
            <a:avLst/>
          </a:prstGeom>
          <a:solidFill>
            <a:srgbClr val="FFFFFF"/>
          </a:solidFill>
          <a:ln w="2222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 txBox="1"/>
          <p:nvPr/>
        </p:nvSpPr>
        <p:spPr>
          <a:xfrm>
            <a:off x="822960" y="539496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🐱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0" y="7178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cat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657600" y="2377440"/>
            <a:ext cx="1737360" cy="1737360"/>
          </a:xfrm>
          <a:prstGeom prst="rect">
            <a:avLst/>
          </a:prstGeom>
          <a:solidFill>
            <a:srgbClr val="FFFFFF"/>
          </a:solidFill>
          <a:ln w="2222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 txBox="1"/>
          <p:nvPr/>
        </p:nvSpPr>
        <p:spPr>
          <a:xfrm>
            <a:off x="3657600" y="23774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🐱🐶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4160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cat and a dog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92240" y="5394960"/>
            <a:ext cx="1737360" cy="1737360"/>
          </a:xfrm>
          <a:prstGeom prst="rect">
            <a:avLst/>
          </a:prstGeom>
          <a:solidFill>
            <a:srgbClr val="FFFFFF"/>
          </a:solidFill>
          <a:ln w="2222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 txBox="1"/>
          <p:nvPr/>
        </p:nvSpPr>
        <p:spPr>
          <a:xfrm>
            <a:off x="6492240" y="539496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🐶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7178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dog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4480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4480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6309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33A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78181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 C is 30 — but the tree assumed at most 2 + 16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509760" y="2286000"/>
            <a:ext cx="6016752" cy="21031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 txBox="1"/>
          <p:nvPr/>
        </p:nvSpPr>
        <p:spPr>
          <a:xfrm>
            <a:off x="9784080" y="2450592"/>
            <a:ext cx="546811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tree assumes</a:t>
            </a:r>
            <a:endParaRPr lang="en-US" sz="22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is close to B, and B is close to C, then A can't be far from C. So it skips whole branches without looking at them.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509760" y="4572000"/>
            <a:ext cx="6016752" cy="21031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 txBox="1"/>
          <p:nvPr/>
        </p:nvSpPr>
        <p:spPr>
          <a:xfrm>
            <a:off x="9784080" y="4736592"/>
            <a:ext cx="546811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sHash actually gives</a:t>
            </a:r>
            <a:endParaRPr lang="en-US" sz="22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composite image sits close to two unrelated ones at the same time. The assumption is simply false.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9509760" y="6858000"/>
            <a:ext cx="6016752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A33A4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 txBox="1"/>
          <p:nvPr/>
        </p:nvSpPr>
        <p:spPr>
          <a:xfrm>
            <a:off x="9738360" y="6949440"/>
            <a:ext cx="5559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throws away a branch holding a real copy — and nothing looks wrong.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Replacement — and What It Costs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swapped sHash for ORB: matching real features between two images, instead of one fingerprint.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8600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ORB</a:t>
            </a:r>
            <a:endParaRPr lang="en-US" sz="19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handles cropping and rotation properly — that was sHash's job.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be searched honestly: its data fits an index that actually works.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9377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part, before the results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stores the four fingerprints inside each mint transaction on the blockchain. They fit easily. ORB does not.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412480" y="2377440"/>
            <a:ext cx="274320" cy="274320"/>
          </a:xfrm>
          <a:prstGeom prst="rect">
            <a:avLst/>
          </a:prstGeom>
          <a:solidFill>
            <a:srgbClr val="9AA0A6"/>
          </a:solidFill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8915400" y="2286000"/>
            <a:ext cx="6611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fingerprints:  ≈ 56 bytes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366760" y="2880360"/>
            <a:ext cx="365760" cy="365760"/>
          </a:xfrm>
          <a:prstGeom prst="rect">
            <a:avLst/>
          </a:prstGeom>
          <a:solidFill>
            <a:srgbClr val="C9D6EA"/>
          </a:solidFill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 txBox="1"/>
          <p:nvPr/>
        </p:nvSpPr>
        <p:spPr>
          <a:xfrm>
            <a:off x="8915400" y="2834640"/>
            <a:ext cx="6611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whole mint transaction:  300–500 bytes</a:t>
            </a:r>
            <a:r>
              <a:rPr lang="en-US" sz="14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(the paper)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412480" y="3566160"/>
            <a:ext cx="6400800" cy="2560320"/>
          </a:xfrm>
          <a:prstGeom prst="rect">
            <a:avLst/>
          </a:prstGeom>
          <a:solidFill>
            <a:srgbClr val="1A5FB4"/>
          </a:solidFill>
          <a:ln w="127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 txBox="1"/>
          <p:nvPr/>
        </p:nvSpPr>
        <p:spPr>
          <a:xfrm>
            <a:off x="8412480" y="4480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ORB:  14,560 bytes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6263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36 whole transactions, for one image     (not to scale)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7223760"/>
            <a:ext cx="14794992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 txBox="1"/>
          <p:nvPr/>
        </p:nvSpPr>
        <p:spPr>
          <a:xfrm>
            <a:off x="960120" y="7315200"/>
            <a:ext cx="14337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whole size-versus-accuracy curve. Shrink ORB and the best usable point (3.9 KB) is still about 10 whole transactions — so we report this as a finding, not a footnote.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Main Stages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3489350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3717950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</a:t>
            </a:r>
          </a:p>
        </p:txBody>
      </p:sp>
      <p:sp>
        <p:nvSpPr>
          <p:cNvPr id="9" name="Shape 7"/>
          <p:cNvSpPr/>
          <p:nvPr/>
        </p:nvSpPr>
        <p:spPr>
          <a:xfrm flipH="1">
            <a:off x="4535216" y="4206240"/>
            <a:ext cx="0" cy="691581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7055518" y="2468879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 txBox="1"/>
          <p:nvPr/>
        </p:nvSpPr>
        <p:spPr>
          <a:xfrm>
            <a:off x="7282974" y="2575875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LSH</a:t>
            </a:r>
          </a:p>
        </p:txBody>
      </p:sp>
      <p:sp>
        <p:nvSpPr>
          <p:cNvPr id="13" name="Shape 11"/>
          <p:cNvSpPr/>
          <p:nvPr/>
        </p:nvSpPr>
        <p:spPr>
          <a:xfrm>
            <a:off x="10619398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14" name="Text 12"/>
          <p:cNvSpPr txBox="1"/>
          <p:nvPr/>
        </p:nvSpPr>
        <p:spPr>
          <a:xfrm>
            <a:off x="10901168" y="2586647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RANSAC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14183278" y="3150737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cs typeface="Arial" pitchFamily="34" charset="-120"/>
              </a:rPr>
              <a:t>The number of relevant matches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744751" y="4941703"/>
            <a:ext cx="1664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</a:t>
            </a:r>
            <a:r>
              <a:rPr lang="en-US" sz="2000" dirty="0" err="1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keypoints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7589520"/>
            <a:ext cx="1479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dirty="0"/>
          </a:p>
        </p:txBody>
      </p:sp>
      <p:sp>
        <p:nvSpPr>
          <p:cNvPr id="37" name="Flowchart: Internal Storage 36">
            <a:extLst>
              <a:ext uri="{FF2B5EF4-FFF2-40B4-BE49-F238E27FC236}">
                <a16:creationId xmlns:a16="http://schemas.microsoft.com/office/drawing/2014/main" id="{18C11323-AB00-488A-80F6-DA2DC1A1AE80}"/>
              </a:ext>
            </a:extLst>
          </p:cNvPr>
          <p:cNvSpPr/>
          <p:nvPr/>
        </p:nvSpPr>
        <p:spPr>
          <a:xfrm>
            <a:off x="1045675" y="2837320"/>
            <a:ext cx="1127655" cy="1053137"/>
          </a:xfrm>
          <a:prstGeom prst="flowChartInternalStorage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5" name="Text 3"/>
          <p:cNvSpPr txBox="1"/>
          <p:nvPr/>
        </p:nvSpPr>
        <p:spPr>
          <a:xfrm>
            <a:off x="1134729" y="2906687"/>
            <a:ext cx="1047356" cy="9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Image</a:t>
            </a:r>
            <a:endParaRPr lang="en-US" sz="1600" dirty="0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95EBE276-B235-4FD3-B51F-6DF8D9CC6A5C}"/>
              </a:ext>
            </a:extLst>
          </p:cNvPr>
          <p:cNvSpPr/>
          <p:nvPr/>
        </p:nvSpPr>
        <p:spPr>
          <a:xfrm>
            <a:off x="2321670" y="3221158"/>
            <a:ext cx="978408" cy="23280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FBAD5A32-5A7A-4136-9621-118BD86AEBED}"/>
              </a:ext>
            </a:extLst>
          </p:cNvPr>
          <p:cNvSpPr txBox="1"/>
          <p:nvPr/>
        </p:nvSpPr>
        <p:spPr>
          <a:xfrm>
            <a:off x="7296374" y="4917790"/>
            <a:ext cx="1664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matches</a:t>
            </a:r>
            <a:endParaRPr lang="en-US" sz="18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B6A530F3-F819-4AE5-847E-385318A2829F}"/>
              </a:ext>
            </a:extLst>
          </p:cNvPr>
          <p:cNvSpPr txBox="1"/>
          <p:nvPr/>
        </p:nvSpPr>
        <p:spPr>
          <a:xfrm>
            <a:off x="10608066" y="5054425"/>
            <a:ext cx="22778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cs typeface="Arial" pitchFamily="34" charset="-120"/>
              </a:rPr>
              <a:t>exclude irrelevant matches</a:t>
            </a:r>
            <a:endParaRPr lang="en-US" sz="1800" dirty="0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767F0AD1-B937-483C-BF29-5738BF56A0D3}"/>
              </a:ext>
            </a:extLst>
          </p:cNvPr>
          <p:cNvSpPr/>
          <p:nvPr/>
        </p:nvSpPr>
        <p:spPr>
          <a:xfrm flipH="1">
            <a:off x="8128794" y="4226209"/>
            <a:ext cx="0" cy="691581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7">
            <a:extLst>
              <a:ext uri="{FF2B5EF4-FFF2-40B4-BE49-F238E27FC236}">
                <a16:creationId xmlns:a16="http://schemas.microsoft.com/office/drawing/2014/main" id="{FB96895B-4252-4081-87B3-216B289B26B1}"/>
              </a:ext>
            </a:extLst>
          </p:cNvPr>
          <p:cNvSpPr/>
          <p:nvPr/>
        </p:nvSpPr>
        <p:spPr>
          <a:xfrm flipH="1">
            <a:off x="11693818" y="4283754"/>
            <a:ext cx="0" cy="691581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FB55291A-47D6-4760-B981-0B2C4C04800B}"/>
              </a:ext>
            </a:extLst>
          </p:cNvPr>
          <p:cNvSpPr/>
          <p:nvPr/>
        </p:nvSpPr>
        <p:spPr>
          <a:xfrm>
            <a:off x="5883972" y="3221158"/>
            <a:ext cx="978408" cy="23280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27336E87-4078-4C60-AEF7-61E7B1F9175B}"/>
              </a:ext>
            </a:extLst>
          </p:cNvPr>
          <p:cNvSpPr/>
          <p:nvPr/>
        </p:nvSpPr>
        <p:spPr>
          <a:xfrm>
            <a:off x="9441577" y="3221158"/>
            <a:ext cx="978408" cy="23280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644B57BE-38D5-4C19-AB9C-3842784B0CFC}"/>
              </a:ext>
            </a:extLst>
          </p:cNvPr>
          <p:cNvSpPr/>
          <p:nvPr/>
        </p:nvSpPr>
        <p:spPr>
          <a:xfrm>
            <a:off x="13012164" y="3236713"/>
            <a:ext cx="978408" cy="232804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53466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— Find Landmarks, and Match Them</a:t>
            </a:r>
            <a:endParaRPr lang="en-US" sz="4400" dirty="0"/>
          </a:p>
        </p:txBody>
      </p:sp>
      <p:pic>
        <p:nvPicPr>
          <p:cNvPr id="4" name="Image 0" descr="/private/tmp/claude-501/-Users-rabeayassin-Developer-nft-dup-heuristic-router/228e9e47-9c60-421c-ac33-6b72f93e74ff/scratchpad/build/orb_match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9509760" cy="46616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6810487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output from our code. Every green line is one landmark matched between the two images.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2103120"/>
            <a:ext cx="491947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corners</a:t>
            </a:r>
            <a:endParaRPr lang="en-US" sz="1700" dirty="0"/>
          </a:p>
          <a:p>
            <a:pPr marL="0" indent="0">
              <a:spcAft>
                <a:spcPts val="2000"/>
              </a:spcAft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 looks for spots it can find again after an edit — corners and sharp junctions. A few hundred per image.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each one</a:t>
            </a:r>
            <a:endParaRPr lang="en-US" sz="1700" dirty="0"/>
          </a:p>
          <a:p>
            <a:pPr marL="0" indent="0">
              <a:spcAft>
                <a:spcPts val="2000"/>
              </a:spcAft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corner gets a short description of its surroundings, plus a direction — which is what makes it survive rotation.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them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 landmark in one image, find the closest one in the other.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— Searching a Whole Collection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real system you check a new mint against thousands of images. You can't compare it to every 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21031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 txBox="1"/>
          <p:nvPr/>
        </p:nvSpPr>
        <p:spPr>
          <a:xfrm>
            <a:off x="960120" y="37490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image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0" y="2651760"/>
            <a:ext cx="3017520" cy="338328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365760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buckets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977640" y="3337560"/>
            <a:ext cx="2377440" cy="594360"/>
          </a:xfrm>
          <a:prstGeom prst="rect">
            <a:avLst/>
          </a:prstGeom>
          <a:solidFill>
            <a:srgbClr val="FFFFFF"/>
          </a:solidFill>
          <a:ln w="15875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3977640" y="4160520"/>
            <a:ext cx="237744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3977640" y="4983480"/>
            <a:ext cx="2377440" cy="594360"/>
          </a:xfrm>
          <a:prstGeom prst="rect">
            <a:avLst/>
          </a:prstGeom>
          <a:solidFill>
            <a:srgbClr val="FFFFFF"/>
          </a:solidFill>
          <a:ln w="15875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7498080" y="3657600"/>
            <a:ext cx="237744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 txBox="1"/>
          <p:nvPr/>
        </p:nvSpPr>
        <p:spPr>
          <a:xfrm>
            <a:off x="7726680" y="37490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list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handful of candidates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698480" y="3657600"/>
            <a:ext cx="237744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 txBox="1"/>
          <p:nvPr/>
        </p:nvSpPr>
        <p:spPr>
          <a:xfrm>
            <a:off x="10927080" y="37490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RANSAC check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3898880" y="3657600"/>
            <a:ext cx="1645920" cy="1371600"/>
          </a:xfrm>
          <a:prstGeom prst="rect">
            <a:avLst/>
          </a:prstGeom>
          <a:solidFill>
            <a:srgbClr val="FFFFFF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 txBox="1"/>
          <p:nvPr/>
        </p:nvSpPr>
        <p:spPr>
          <a:xfrm>
            <a:off x="14127480" y="3749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834640" y="4343400"/>
            <a:ext cx="82296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6675120" y="4343400"/>
            <a:ext cx="82296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9875520" y="4343400"/>
            <a:ext cx="82296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3075920" y="4343400"/>
            <a:ext cx="82296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 txBox="1"/>
          <p:nvPr/>
        </p:nvSpPr>
        <p:spPr>
          <a:xfrm>
            <a:off x="3108960" y="6172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 landmarks land in the same bucket, so you only look at plausible candidates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7223760"/>
            <a:ext cx="14794992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 txBox="1"/>
          <p:nvPr/>
        </p:nvSpPr>
        <p:spPr>
          <a:xfrm>
            <a:off x="960120" y="7315200"/>
            <a:ext cx="14337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saying: </a:t>
            </a: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accuracy number in this talk compares two images directly, with no index involved — so none of the accuracy comes from this step.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— Throw Out the Coincidences</a:t>
            </a:r>
            <a:endParaRPr lang="en-US" sz="4400" dirty="0"/>
          </a:p>
        </p:txBody>
      </p:sp>
      <p:pic>
        <p:nvPicPr>
          <p:cNvPr id="4" name="Image 0" descr="/private/tmp/claude-501/-Users-rabeayassin-Developer-nft-dup-heuristic-router/228e9e47-9c60-421c-ac33-6b72f93e74ff/scratchpad/build/orb_match_rotat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9509760" cy="46616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6810487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artwork, one copy rotated. 204 landmarks agree on a single rotation.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2103120"/>
            <a:ext cx="491947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Plenty of those matches are junk</a:t>
            </a:r>
            <a:endParaRPr lang="en-US" sz="1700" dirty="0"/>
          </a:p>
          <a:p>
            <a:pPr marL="0" indent="0">
              <a:spcAft>
                <a:spcPts val="2000"/>
              </a:spcAft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Coincidental matches point in every direction. Real ones all tell the same story: rotate this much, shift this much.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RANSAC finds that one story</a:t>
            </a:r>
            <a:endParaRPr lang="en-US" sz="1700" dirty="0"/>
          </a:p>
          <a:p>
            <a:pPr marL="0" indent="0">
              <a:spcAft>
                <a:spcPts val="2000"/>
              </a:spcAft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looks for the single transformation that the most matches agree on, and discards the rest.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agree is our score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cutoff: more than 16 agreeing matches. Hundreds of landmarks independently agreeing does not happen by chance.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Pipeline, End to End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 txBox="1"/>
          <p:nvPr/>
        </p:nvSpPr>
        <p:spPr>
          <a:xfrm>
            <a:off x="960120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images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880360" y="3337560"/>
            <a:ext cx="38039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3260750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3489350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landmarks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09590" y="3337560"/>
            <a:ext cx="38039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789981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 txBox="1"/>
          <p:nvPr/>
        </p:nvSpPr>
        <p:spPr>
          <a:xfrm>
            <a:off x="6018581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938821" y="3337560"/>
            <a:ext cx="38039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8319211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 txBox="1"/>
          <p:nvPr/>
        </p:nvSpPr>
        <p:spPr>
          <a:xfrm>
            <a:off x="8547811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RANSAC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468051" y="3337560"/>
            <a:ext cx="38039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848442" y="2468880"/>
            <a:ext cx="21488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 txBox="1"/>
          <p:nvPr/>
        </p:nvSpPr>
        <p:spPr>
          <a:xfrm>
            <a:off x="11077042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the agreeing matches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997282" y="3337560"/>
            <a:ext cx="38039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3377672" y="2468880"/>
            <a:ext cx="2148840" cy="1737360"/>
          </a:xfrm>
          <a:prstGeom prst="rect">
            <a:avLst/>
          </a:prstGeom>
          <a:solidFill>
            <a:srgbClr val="FFFFFF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 txBox="1"/>
          <p:nvPr/>
        </p:nvSpPr>
        <p:spPr>
          <a:xfrm>
            <a:off x="13606272" y="256032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/ not a copy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4937760"/>
            <a:ext cx="1479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where it sits in the paper's system — same design, same rule, one signal replaced: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31520" y="5852160"/>
            <a:ext cx="22860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 txBox="1"/>
          <p:nvPr/>
        </p:nvSpPr>
        <p:spPr>
          <a:xfrm>
            <a:off x="960120" y="5943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aHash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017520" y="6446520"/>
            <a:ext cx="4114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3429000" y="5852160"/>
            <a:ext cx="22860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 txBox="1"/>
          <p:nvPr/>
        </p:nvSpPr>
        <p:spPr>
          <a:xfrm>
            <a:off x="3657600" y="5943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pHash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715000" y="6446520"/>
            <a:ext cx="4114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6126480" y="5852160"/>
            <a:ext cx="22860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 txBox="1"/>
          <p:nvPr/>
        </p:nvSpPr>
        <p:spPr>
          <a:xfrm>
            <a:off x="6355080" y="5943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hsvHash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412480" y="6446520"/>
            <a:ext cx="4114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8823960" y="5852160"/>
            <a:ext cx="2286000" cy="1188720"/>
          </a:xfrm>
          <a:prstGeom prst="rect">
            <a:avLst/>
          </a:prstGeom>
          <a:solidFill>
            <a:srgbClr val="EEF3FB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 txBox="1"/>
          <p:nvPr/>
        </p:nvSpPr>
        <p:spPr>
          <a:xfrm>
            <a:off x="9052560" y="5943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1109960" y="6446520"/>
            <a:ext cx="411480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11887200" y="5623560"/>
            <a:ext cx="2743200" cy="1645920"/>
          </a:xfrm>
          <a:prstGeom prst="rect">
            <a:avLst/>
          </a:prstGeom>
          <a:solidFill>
            <a:srgbClr val="FFFFFF"/>
          </a:solidFill>
          <a:ln w="317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 txBox="1"/>
          <p:nvPr/>
        </p:nvSpPr>
        <p:spPr>
          <a:xfrm>
            <a:off x="12115800" y="57150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of 4 agree?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7589520"/>
            <a:ext cx="1479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 replaces sHash. The other three fingerprints, and the voting rule, are untouched.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Tested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paper's data isn't public, so we built our own — 3,000 real NFTs, and we generated the copies ourselves.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94944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6" name="Image 0" descr="/Users/rabeayassin/Developer/nft-dup-heuristic-router/data/example/generated/images/azuki_#8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65960"/>
            <a:ext cx="1705356" cy="17053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64892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9" name="Image 1" descr="/Users/rabeayassin/Developer/nft-dup-heuristic-router/data/example/generated/images/azuki_#824__exact_copy_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468" y="1965960"/>
            <a:ext cx="1705356" cy="17053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510028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copy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434840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2" name="Image 2" descr="/Users/rabeayassin/Developer/nft-dup-heuristic-router/data/example/generated/images/azuki_#824__flip_rotate_mirror_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1965960"/>
            <a:ext cx="1705356" cy="17053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379976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flipped / rotated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304788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5" name="Image 3" descr="/Users/rabeayassin/Developer/nft-dup-heuristic-router/data/example/generated/images/azuki_#824__resize_crop_reposition_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1364" y="1965960"/>
            <a:ext cx="1705356" cy="17053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249924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cropped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174736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8" name="Image 4" descr="/Users/rabeayassin/Developer/nft-dup-heuristic-router/data/example/generated/images/azuki_#824__text_logo_emoji_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1965960"/>
            <a:ext cx="1705356" cy="170535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119872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added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10044684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1" name="Image 5" descr="/Users/rabeayassin/Developer/nft-dup-heuristic-router/data/example/generated/images/azuki_#824__background_color_change_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1260" y="1965960"/>
            <a:ext cx="1705356" cy="170535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989820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11914632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4" name="Image 6" descr="/Users/rabeayassin/Developer/nft-dup-heuristic-router/data/example/generated/images/azuki_#824__pixelated_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51208" y="1965960"/>
            <a:ext cx="1705356" cy="1705356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11859768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pixelated</a:t>
            </a:r>
            <a:endParaRPr lang="en-US" sz="1200" dirty="0"/>
          </a:p>
        </p:txBody>
      </p:sp>
      <p:sp>
        <p:nvSpPr>
          <p:cNvPr id="26" name="Shape 17"/>
          <p:cNvSpPr/>
          <p:nvPr/>
        </p:nvSpPr>
        <p:spPr>
          <a:xfrm>
            <a:off x="13784580" y="1929384"/>
            <a:ext cx="1778508" cy="17785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7" name="Image 7" descr="/Users/rabeayassin/Developer/nft-dup-heuristic-router/data/example/generated/images/azuki_#824__color_swap_modify_saturate_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821156" y="1965960"/>
            <a:ext cx="1705356" cy="1705356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3729716" y="3744468"/>
            <a:ext cx="18882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recoloured</a:t>
            </a:r>
            <a:endParaRPr lang="en-US" sz="1200" dirty="0"/>
          </a:p>
        </p:txBody>
      </p:sp>
      <p:sp>
        <p:nvSpPr>
          <p:cNvPr id="29" name="Text 19"/>
          <p:cNvSpPr txBox="1"/>
          <p:nvPr/>
        </p:nvSpPr>
        <p:spPr>
          <a:xfrm>
            <a:off x="731520" y="4480560"/>
            <a:ext cx="7223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six edit types from the paper, three random variations each, plus exact copies and non-matching pairs.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by original image before editing, so no image's copies appear in both training and testing.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set: 11,400 real copies and 2,400 non-copies.</a:t>
            </a:r>
            <a:endParaRPr lang="en-US" sz="1800" dirty="0"/>
          </a:p>
        </p:txBody>
      </p:sp>
      <p:sp>
        <p:nvSpPr>
          <p:cNvPr id="30" name="Shape 20"/>
          <p:cNvSpPr/>
          <p:nvPr/>
        </p:nvSpPr>
        <p:spPr>
          <a:xfrm>
            <a:off x="8321040" y="4480560"/>
            <a:ext cx="7205472" cy="3108960"/>
          </a:xfrm>
          <a:prstGeom prst="rect">
            <a:avLst/>
          </a:prstGeom>
          <a:solidFill>
            <a:srgbClr val="EEF3FB"/>
          </a:solidFill>
          <a:ln w="25400">
            <a:solidFill>
              <a:srgbClr val="1A5FB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1"/>
          <p:cNvSpPr txBox="1"/>
          <p:nvPr/>
        </p:nvSpPr>
        <p:spPr>
          <a:xfrm>
            <a:off x="8595360" y="4663440"/>
            <a:ext cx="66568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23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handicapped ourselves on purpose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let sHash pick its cutoff by looking at the test answers — something you could never do in practice.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ORB's cutoff was picked on training data only. So every comparison that follows is tilted against us.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1 — Head to Head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edits sHash was built for. This is the number from the first slide.</a:t>
            </a:r>
            <a:endParaRPr lang="en-US" sz="1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14794992" cy="1536192"/>
        </p:xfrm>
        <a:graphic>
          <a:graphicData uri="http://schemas.openxmlformats.org/drawingml/2006/table">
            <a:tbl>
              <a:tblPr/>
              <a:tblGrid>
                <a:gridCol w="821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0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0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0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0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sHash — allowed to look at the answers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66.5%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89.8%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76.4%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5FB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ORB — no such advantage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91.2%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90.0%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FB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90.6%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1520" y="3886200"/>
            <a:ext cx="14794992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4"/>
          <p:cNvSpPr txBox="1"/>
          <p:nvPr/>
        </p:nvSpPr>
        <p:spPr>
          <a:xfrm>
            <a:off x="960120" y="3977640"/>
            <a:ext cx="14337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recall looks close — 89.8 against 90.0. But sHash gets there by accusing everything: </a:t>
            </a:r>
            <a:r>
              <a:rPr lang="en-US" sz="19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 three of its accusations is an innocent image.</a:t>
            </a:r>
            <a:endParaRPr lang="en-US" sz="1900" dirty="0"/>
          </a:p>
        </p:txBody>
      </p:sp>
      <p:pic>
        <p:nvPicPr>
          <p:cNvPr id="8" name="Image 0" descr="/Users/rabeayassin/Developer/nft-dup-heuristic-router/docs/orb_vs_sh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5440680"/>
            <a:ext cx="932688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2 — It Wins Almost Everywhere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by kind of edit: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share of each edit's copies that ORB catches (same cutoff as Result 1).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731520" y="2011680"/>
          <a:ext cx="9144000" cy="6217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10424160" y="2194560"/>
            <a:ext cx="5102352" cy="274320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4"/>
          <p:cNvSpPr txBox="1"/>
          <p:nvPr/>
        </p:nvSpPr>
        <p:spPr>
          <a:xfrm>
            <a:off x="10698480" y="2359152"/>
            <a:ext cx="4553712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aimed it at cropping</a:t>
            </a:r>
            <a:endParaRPr lang="en-US" sz="22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that — 98%. But it also survives a recoloured background and a logo pasted on top, which we did not expect. Neither of those disturbs the shapes ORB looks for.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424160" y="5212080"/>
            <a:ext cx="5102352" cy="30175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 txBox="1"/>
          <p:nvPr/>
        </p:nvSpPr>
        <p:spPr>
          <a:xfrm>
            <a:off x="10698480" y="5376672"/>
            <a:ext cx="4553712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clean failure</a:t>
            </a:r>
            <a:endParaRPr lang="en-US" sz="22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Pixelation destroys the fine detail that corners are made of, so there is nothing left to find.</a:t>
            </a:r>
            <a:endParaRPr lang="en-US" sz="22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failure we can explain is a good place to be — and the other three fingerprints still cover it.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3 — In the Whole Detector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one signal. Leave everything else exactly as the paper published it.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246888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77.5</a:t>
            </a:r>
            <a:endParaRPr lang="en-US" sz="9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4343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paper's detector,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its own published settings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675120" y="3291840"/>
            <a:ext cx="2103120" cy="0"/>
          </a:xfrm>
          <a:prstGeom prst="line">
            <a:avLst/>
          </a:prstGeom>
          <a:noFill/>
          <a:ln w="38100">
            <a:solidFill>
              <a:srgbClr val="2B2B2B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9144000" y="246888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86.4</a:t>
            </a:r>
            <a:endParaRPr lang="en-US" sz="96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4343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detector,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ORB in place of sHash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0" y="28803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+8.9 F1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731520" y="5394960"/>
            <a:ext cx="14794992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 txBox="1"/>
          <p:nvPr/>
        </p:nvSpPr>
        <p:spPr>
          <a:xfrm>
            <a:off x="960120" y="5486400"/>
            <a:ext cx="14337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Re-tune their thresholds to our data — which helps them, not us — and it's 81.7 → 87.5. It wins either way.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" y="6720840"/>
            <a:ext cx="14794992" cy="169164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 txBox="1"/>
          <p:nvPr/>
        </p:nvSpPr>
        <p:spPr>
          <a:xfrm>
            <a:off x="1005840" y="6885432"/>
            <a:ext cx="1424635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caveat, said out loud</a:t>
            </a:r>
            <a:endParaRPr lang="en-US" sz="22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test set is mostly copies, so a detector that says "yes" to everything already scores well on F1. That's why the fair comparison is how many copies are caught at the same accusation rate: 64% → 77%.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Learned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83080"/>
            <a:ext cx="136062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maths before optimising it</a:t>
            </a:r>
            <a:endParaRPr lang="en-US" sz="25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set out to make a search faster and found the search itself was unsound. Speed means nothing until the tool is correct.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920240" y="3749040"/>
            <a:ext cx="13606272" cy="0"/>
          </a:xfrm>
          <a:prstGeom prst="line">
            <a:avLst/>
          </a:prstGeom>
          <a:noFill/>
          <a:ln w="1270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52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931920"/>
            <a:ext cx="136062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store a signal decides how you can search it</a:t>
            </a:r>
            <a:endParaRPr lang="en-US" sz="25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fingerprint fits a tree. A set of landmarks needs a different index entirely. You don't get to pick the signal and the storage separately — that's what the 14.5 KB is really telling us.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1920240" y="5897880"/>
            <a:ext cx="13606272" cy="0"/>
          </a:xfrm>
          <a:prstGeom prst="line">
            <a:avLst/>
          </a:prstGeom>
          <a:noFill/>
          <a:ln w="1270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 txBox="1"/>
          <p:nvPr/>
        </p:nvSpPr>
        <p:spPr>
          <a:xfrm>
            <a:off x="731520" y="608076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52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6080760"/>
            <a:ext cx="136062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negative result is still a result</a:t>
            </a:r>
            <a:endParaRPr lang="en-US" sz="2500" dirty="0"/>
          </a:p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edit classifier, measured it, and it didn't improve accuracy — because a broken fingerprint here goes quiet rather than voting wrongly, so silencing it changes nothing. We're happy to go into the details.</a:t>
            </a:r>
            <a:endParaRPr lang="en-US" sz="2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4400" dirty="0"/>
          </a:p>
        </p:txBody>
      </p:sp>
      <p:pic>
        <p:nvPicPr>
          <p:cNvPr id="4" name="Image 0" descr="/Users/rabeayassin/Developer/nft-dup-heuristic-router/data/example/generated/images/azuki_#8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57600"/>
            <a:ext cx="2926080" cy="2926080"/>
          </a:xfrm>
          <a:prstGeom prst="rect">
            <a:avLst/>
          </a:prstGeom>
        </p:spPr>
      </p:pic>
      <p:pic>
        <p:nvPicPr>
          <p:cNvPr id="5" name="Image 1" descr="/private/tmp/claude-501/-Users-rabeayassin-Developer-nft-dup-heuristic-router/228e9e47-9c60-421c-ac33-6b72f93e74ff/scratchpad/build/punk_nea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657600"/>
            <a:ext cx="2926080" cy="2926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6720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× 256 — plenty of detail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3931920" y="6720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× 24 — nothing for ORB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A33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hold on 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7772400" y="2286000"/>
            <a:ext cx="7754112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2000" dirty="0"/>
          </a:p>
          <a:p>
            <a:pPr marL="0" indent="0">
              <a:spcAft>
                <a:spcPts val="3400"/>
              </a:spcAft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landmark data off-chain with a small fingerprint of it on-chain — or find a compact geometric signal that fits the budget.</a:t>
            </a:r>
            <a:endParaRPr lang="en-US" sz="20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Pixelation</a:t>
            </a:r>
            <a:endParaRPr lang="en-US" sz="2000" dirty="0"/>
          </a:p>
          <a:p>
            <a:pPr marL="0" indent="0">
              <a:spcAft>
                <a:spcPts val="3400"/>
              </a:spcAft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ORB's one failure. Pair it with a signal that survives it — the paper's own coarse fingerprints already do.</a:t>
            </a:r>
            <a:endParaRPr lang="en-US" sz="20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6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images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× 24 pixel art is genuinely hard. Upscaling recovers some landmarks but cannot invent detail that was never there.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7223760" y="2286000"/>
            <a:ext cx="0" cy="6126480"/>
          </a:xfrm>
          <a:prstGeom prst="line">
            <a:avLst/>
          </a:prstGeom>
          <a:noFill/>
          <a:ln w="12700">
            <a:solidFill>
              <a:srgbClr val="DEDBD3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Just Showed You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488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2221992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four fingerprints vote — two agreeing means a copy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19272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3392424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goal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make it faster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897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4562856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one of the four can't be searched correctly — it misses real copies silently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66013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5733288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did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replaced it with feature matching: landmarks, RANSAC, and an index for scale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83056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6903720"/>
            <a:ext cx="1351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</a:t>
            </a: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+14.2 on the job it was built for, +8.9 in the full system — but too big to store on-chain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79552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signal replaced, measured honestly, with its cost stated.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FAF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77872" y="85953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1479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&amp; Questions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1479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on these slides reproduces from the repository.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4794992" cy="9601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 txBox="1"/>
          <p:nvPr/>
        </p:nvSpPr>
        <p:spPr>
          <a:xfrm>
            <a:off x="1005840" y="2377440"/>
            <a:ext cx="1424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compare_shash.py</a:t>
            </a:r>
            <a:endParaRPr lang="en-US" sz="19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 against sHash, head to head   ·   slide 15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14794992" cy="9601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 txBox="1"/>
          <p:nvPr/>
        </p:nvSpPr>
        <p:spPr>
          <a:xfrm>
            <a:off x="1005840" y="3566160"/>
            <a:ext cx="1424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descriptor_budget.py</a:t>
            </a:r>
            <a:endParaRPr lang="en-US" sz="19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size-versus-accuracy curve   ·   slide 9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1520" y="4663440"/>
            <a:ext cx="14794992" cy="960120"/>
          </a:xfrm>
          <a:prstGeom prst="rect">
            <a:avLst/>
          </a:prstGeom>
          <a:solidFill>
            <a:srgbClr val="F0ECE2"/>
          </a:solidFill>
          <a:ln w="12700">
            <a:solidFill>
              <a:srgbClr val="F0ECE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 txBox="1"/>
          <p:nvPr/>
        </p:nvSpPr>
        <p:spPr>
          <a:xfrm>
            <a:off x="1005840" y="4754880"/>
            <a:ext cx="1424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A5F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evaluate_deployed.py</a:t>
            </a:r>
            <a:endParaRPr lang="en-US" sz="1900" dirty="0"/>
          </a:p>
          <a:p>
            <a:pPr marL="0" indent="0">
              <a:buNone/>
            </a:pPr>
            <a:r>
              <a:rPr lang="en-US" sz="16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as published, against our swap   ·   slide 17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6766560"/>
            <a:ext cx="1479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169</TotalTime>
  <Words>3562</Words>
  <Application>Microsoft Macintosh PowerPoint</Application>
  <PresentationFormat>Custom</PresentationFormat>
  <Paragraphs>349</Paragraphs>
  <Slides>22</Slides>
  <Notes>22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Courier New</vt:lpstr>
      <vt:lpstr>Trebuchet MS</vt:lpstr>
      <vt:lpstr>Berlin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Rabea Yassin</cp:lastModifiedBy>
  <cp:revision>11</cp:revision>
  <dcterms:created xsi:type="dcterms:W3CDTF">2026-09-23T10:36:46Z</dcterms:created>
  <dcterms:modified xsi:type="dcterms:W3CDTF">2026-10-06T21:00:17Z</dcterms:modified>
</cp:coreProperties>
</file>