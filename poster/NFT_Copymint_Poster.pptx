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5200000" cy="360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200000" cy="4536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36000"/>
            <a:ext cx="25200000" cy="10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360000"/>
            <a:ext cx="1080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TECHNION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C9D6EA"/>
                </a:solidFill>
                <a:latin typeface="Arial"/>
              </a:rPr>
              <a:t>Israel Institute of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80000" y="360000"/>
            <a:ext cx="1080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2000" b="0" i="0">
                <a:solidFill>
                  <a:srgbClr val="C9D6EA"/>
                </a:solidFill>
                <a:latin typeface="Arial"/>
              </a:rPr>
              <a:t>02360340  ·  Project in Computer Communications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96000"/>
            <a:ext cx="23760000" cy="129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0" b="1" i="0">
                <a:solidFill>
                  <a:srgbClr val="FFFFFF"/>
                </a:solidFill>
                <a:latin typeface="Arial"/>
              </a:rPr>
              <a:t>Detecting Copied NFT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628000"/>
            <a:ext cx="2376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000" b="0" i="0">
                <a:solidFill>
                  <a:srgbClr val="C9D6EA"/>
                </a:solidFill>
                <a:latin typeface="Arial"/>
              </a:rPr>
              <a:t>Replacing a broken signal in an NFT copymint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600000"/>
            <a:ext cx="2376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Arial"/>
              </a:rPr>
              <a:t>Rabea Yassin  ·  Ahmad Nassar        Instructor: Eran Tavor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5400000"/>
            <a:ext cx="11592000" cy="827999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l"/>
            <a:r>
              <a:rPr sz="3800" b="1">
                <a:solidFill>
                  <a:srgbClr val="1B3A6B"/>
                </a:solidFill>
                <a:latin typeface="Arial"/>
              </a:rPr>
              <a:t>The problem: copymints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5400000"/>
            <a:ext cx="162000" cy="827999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6516000"/>
            <a:ext cx="11592000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0" i="0">
                <a:solidFill>
                  <a:srgbClr val="2B2B2B"/>
                </a:solidFill>
                <a:latin typeface="Arial"/>
              </a:rPr>
              <a:t>A copymint takes someone's NFT artwork, edits it a little, and mints it as new. Exact hashing (SHA-256) can't see it: one changed pixel gives an unrelated digest. Detection needs fingerprints of </a:t>
            </a:r>
            <a:r>
              <a:rPr sz="2600" b="1" i="0">
                <a:solidFill>
                  <a:srgbClr val="2B2B2B"/>
                </a:solidFill>
                <a:latin typeface="Arial"/>
              </a:rPr>
              <a:t>what the image looks like</a:t>
            </a:r>
            <a:r>
              <a:rPr sz="2600" b="0" i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pic>
        <p:nvPicPr>
          <p:cNvPr id="12" name="Picture 11" descr="example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8208000"/>
            <a:ext cx="2520000" cy="252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32000" y="10800000"/>
            <a:ext cx="252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0" i="0">
                <a:solidFill>
                  <a:srgbClr val="5F6368"/>
                </a:solidFill>
                <a:latin typeface="Arial"/>
              </a:rPr>
              <a:t>original</a:t>
            </a:r>
          </a:p>
        </p:txBody>
      </p:sp>
      <p:pic>
        <p:nvPicPr>
          <p:cNvPr id="14" name="Picture 13" descr="example_r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000" y="8208000"/>
            <a:ext cx="2520000" cy="252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56000" y="10800000"/>
            <a:ext cx="252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0" i="0">
                <a:solidFill>
                  <a:srgbClr val="5F6368"/>
                </a:solidFill>
                <a:latin typeface="Arial"/>
              </a:rPr>
              <a:t>rotated copy</a:t>
            </a:r>
          </a:p>
        </p:txBody>
      </p:sp>
      <p:pic>
        <p:nvPicPr>
          <p:cNvPr id="16" name="Picture 15" descr="example_recolou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000" y="8208000"/>
            <a:ext cx="2520000" cy="252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80000" y="10800000"/>
            <a:ext cx="252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200" b="0" i="0">
                <a:solidFill>
                  <a:srgbClr val="5F6368"/>
                </a:solidFill>
                <a:latin typeface="Arial"/>
              </a:rPr>
              <a:t>recoloured copy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11772000"/>
            <a:ext cx="11592000" cy="827999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l"/>
            <a:r>
              <a:rPr sz="3800" b="1">
                <a:solidFill>
                  <a:srgbClr val="1B3A6B"/>
                </a:solidFill>
                <a:latin typeface="Arial"/>
              </a:rPr>
              <a:t>What the researchers 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11772000"/>
            <a:ext cx="162000" cy="827999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000" y="12887999"/>
            <a:ext cx="1159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0" i="0">
                <a:solidFill>
                  <a:srgbClr val="2B2B2B"/>
                </a:solidFill>
                <a:latin typeface="Arial"/>
              </a:rPr>
              <a:t>Kotzer et al. compute four perceptual hashes per image, search each in its own BK-tree, and call it a copy when </a:t>
            </a:r>
            <a:r>
              <a:rPr sz="2600" b="1" i="0">
                <a:solidFill>
                  <a:srgbClr val="2B2B2B"/>
                </a:solidFill>
                <a:latin typeface="Arial"/>
              </a:rPr>
              <a:t>at least two agree</a:t>
            </a:r>
            <a:r>
              <a:rPr sz="2600" b="0" i="0">
                <a:solidFill>
                  <a:srgbClr val="2B2B2B"/>
                </a:solidFill>
                <a:latin typeface="Arial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0000" y="13967999"/>
            <a:ext cx="3780000" cy="827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2200" b="0">
                <a:solidFill>
                  <a:srgbClr val="2B2B2B"/>
                </a:solidFill>
                <a:latin typeface="Arial"/>
              </a:rPr>
              <a:t>aHash</a:t>
            </a:r>
          </a:p>
          <a:p>
            <a:pPr algn="ctr"/>
            <a:r>
              <a:rPr sz="1700" b="0">
                <a:solidFill>
                  <a:srgbClr val="5F6368"/>
                </a:solidFill>
                <a:latin typeface="Arial"/>
              </a:rPr>
              <a:t>brightness layout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60000" y="14381999"/>
            <a:ext cx="1800000" cy="148500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80000" y="14957999"/>
            <a:ext cx="3780000" cy="827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2200" b="0">
                <a:solidFill>
                  <a:srgbClr val="2B2B2B"/>
                </a:solidFill>
                <a:latin typeface="Arial"/>
              </a:rPr>
              <a:t>pHash</a:t>
            </a:r>
          </a:p>
          <a:p>
            <a:pPr algn="ctr"/>
            <a:r>
              <a:rPr sz="1700" b="0">
                <a:solidFill>
                  <a:srgbClr val="5F6368"/>
                </a:solidFill>
                <a:latin typeface="Arial"/>
              </a:rPr>
              <a:t>coarse shapes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60000" y="15371999"/>
            <a:ext cx="1800000" cy="49500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80000" y="15947999"/>
            <a:ext cx="3780000" cy="827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2200" b="0">
                <a:solidFill>
                  <a:srgbClr val="2B2B2B"/>
                </a:solidFill>
                <a:latin typeface="Arial"/>
              </a:rPr>
              <a:t>hsvHash</a:t>
            </a:r>
          </a:p>
          <a:p>
            <a:pPr algn="ctr"/>
            <a:r>
              <a:rPr sz="1700" b="0">
                <a:solidFill>
                  <a:srgbClr val="5F6368"/>
                </a:solidFill>
                <a:latin typeface="Arial"/>
              </a:rPr>
              <a:t>colour mix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860000" y="15866999"/>
            <a:ext cx="1800000" cy="49500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80000" y="16938000"/>
            <a:ext cx="3780000" cy="827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444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2200" b="0">
                <a:solidFill>
                  <a:srgbClr val="2B2B2B"/>
                </a:solidFill>
                <a:latin typeface="Arial"/>
              </a:rPr>
              <a:t>sHash</a:t>
            </a:r>
          </a:p>
          <a:p>
            <a:pPr algn="ctr"/>
            <a:r>
              <a:rPr sz="1700" b="0">
                <a:solidFill>
                  <a:srgbClr val="5F6368"/>
                </a:solidFill>
                <a:latin typeface="Arial"/>
              </a:rPr>
              <a:t>image pieces (cropping)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860000" y="15866999"/>
            <a:ext cx="1800000" cy="1485001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660000" y="15146999"/>
            <a:ext cx="2520000" cy="1440000"/>
          </a:xfrm>
          <a:prstGeom prst="roundRect">
            <a:avLst>
              <a:gd name="adj" fmla="val 12000"/>
            </a:avLst>
          </a:prstGeom>
          <a:solidFill>
            <a:srgbClr val="EEF3FB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2800" b="1">
                <a:solidFill>
                  <a:srgbClr val="2B2B2B"/>
                </a:solidFill>
                <a:latin typeface="Arial"/>
              </a:rPr>
              <a:t>2 of 4</a:t>
            </a:r>
          </a:p>
          <a:p>
            <a:pPr algn="ctr"/>
            <a:r>
              <a:rPr sz="2300" b="0">
                <a:solidFill>
                  <a:srgbClr val="5F6368"/>
                </a:solidFill>
                <a:latin typeface="Arial"/>
              </a:rPr>
              <a:t>agree?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80000" y="15866999"/>
            <a:ext cx="720000" cy="0"/>
          </a:xfrm>
          <a:prstGeom prst="line">
            <a:avLst/>
          </a:prstGeom>
          <a:ln w="25400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00000" y="15416999"/>
            <a:ext cx="2015999" cy="9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2200" b="0">
                <a:solidFill>
                  <a:srgbClr val="2B2B2B"/>
                </a:solidFill>
                <a:latin typeface="Arial"/>
              </a:rPr>
              <a:t>copy /</a:t>
            </a:r>
          </a:p>
          <a:p>
            <a:pPr algn="ctr"/>
            <a:r>
              <a:rPr sz="1700" b="0">
                <a:solidFill>
                  <a:srgbClr val="5F6368"/>
                </a:solidFill>
                <a:latin typeface="Arial"/>
              </a:rPr>
              <a:t>not a copy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000" y="18395999"/>
            <a:ext cx="11592000" cy="827999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l"/>
            <a:r>
              <a:rPr sz="3800" b="1">
                <a:solidFill>
                  <a:srgbClr val="1B3A6B"/>
                </a:solidFill>
                <a:latin typeface="Arial"/>
              </a:rPr>
              <a:t>What we found: sHash isn't a distance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000" y="18395999"/>
            <a:ext cx="162000" cy="827999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000" y="19511999"/>
            <a:ext cx="11592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0" i="0">
                <a:solidFill>
                  <a:srgbClr val="2B2B2B"/>
                </a:solidFill>
                <a:latin typeface="Arial"/>
              </a:rPr>
              <a:t>sHash fingerprints each </a:t>
            </a:r>
            <a:r>
              <a:rPr sz="2600" b="1" i="0">
                <a:solidFill>
                  <a:srgbClr val="2B2B2B"/>
                </a:solidFill>
                <a:latin typeface="Arial"/>
              </a:rPr>
              <a:t>piece</a:t>
            </a:r>
            <a:r>
              <a:rPr sz="2600" b="0" i="0">
                <a:solidFill>
                  <a:srgbClr val="2B2B2B"/>
                </a:solidFill>
                <a:latin typeface="Arial"/>
              </a:rPr>
              <a:t> of an image and compares the lists </a:t>
            </a:r>
            <a:r>
              <a:rPr sz="2600" b="1" i="0">
                <a:solidFill>
                  <a:srgbClr val="2B2B2B"/>
                </a:solidFill>
                <a:latin typeface="Arial"/>
              </a:rPr>
              <a:t>one way</a:t>
            </a:r>
            <a:r>
              <a:rPr sz="2600" b="0" i="0">
                <a:solidFill>
                  <a:srgbClr val="2B2B2B"/>
                </a:solidFill>
                <a:latin typeface="Arial"/>
              </a:rPr>
              <a:t>. In the data the authors shared with us, the reported distance matches one direction on all 1,802 pairs, and the other on only 240.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980000" y="21887999"/>
            <a:ext cx="2880000" cy="1512000"/>
          </a:xfrm>
          <a:prstGeom prst="line">
            <a:avLst/>
          </a:prstGeom>
          <a:ln w="381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860000" y="21887999"/>
            <a:ext cx="2880000" cy="1512000"/>
          </a:xfrm>
          <a:prstGeom prst="line">
            <a:avLst/>
          </a:prstGeom>
          <a:ln w="3810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980000" y="23399999"/>
            <a:ext cx="5760000" cy="0"/>
          </a:xfrm>
          <a:prstGeom prst="line">
            <a:avLst/>
          </a:prstGeom>
          <a:ln w="50800">
            <a:solidFill>
              <a:srgbClr val="EB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260000" y="22679999"/>
            <a:ext cx="1440000" cy="144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2200" b="1">
                <a:solidFill>
                  <a:srgbClr val="2B2B2B"/>
                </a:solidFill>
                <a:latin typeface="Arial"/>
              </a:rPr>
              <a:t>A</a:t>
            </a:r>
          </a:p>
          <a:p>
            <a:pPr algn="ctr"/>
            <a:r>
              <a:rPr sz="1700" b="0">
                <a:solidFill>
                  <a:srgbClr val="5F6368"/>
                </a:solidFill>
                <a:latin typeface="Arial"/>
              </a:rPr>
              <a:t>cat</a:t>
            </a:r>
          </a:p>
        </p:txBody>
      </p:sp>
      <p:sp>
        <p:nvSpPr>
          <p:cNvPr id="39" name="Oval 38"/>
          <p:cNvSpPr/>
          <p:nvPr/>
        </p:nvSpPr>
        <p:spPr>
          <a:xfrm>
            <a:off x="4140000" y="21167999"/>
            <a:ext cx="1440000" cy="144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2200" b="1">
                <a:solidFill>
                  <a:srgbClr val="2B2B2B"/>
                </a:solidFill>
                <a:latin typeface="Arial"/>
              </a:rPr>
              <a:t>B</a:t>
            </a:r>
          </a:p>
          <a:p>
            <a:pPr algn="ctr"/>
            <a:r>
              <a:rPr sz="1700" b="0">
                <a:solidFill>
                  <a:srgbClr val="5F6368"/>
                </a:solidFill>
                <a:latin typeface="Arial"/>
              </a:rPr>
              <a:t>cat+dog</a:t>
            </a:r>
          </a:p>
        </p:txBody>
      </p:sp>
      <p:sp>
        <p:nvSpPr>
          <p:cNvPr id="40" name="Oval 39"/>
          <p:cNvSpPr/>
          <p:nvPr/>
        </p:nvSpPr>
        <p:spPr>
          <a:xfrm>
            <a:off x="7020000" y="22679999"/>
            <a:ext cx="1440000" cy="144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63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2200" b="1">
                <a:solidFill>
                  <a:srgbClr val="2B2B2B"/>
                </a:solidFill>
                <a:latin typeface="Arial"/>
              </a:rPr>
              <a:t>C</a:t>
            </a:r>
          </a:p>
          <a:p>
            <a:pPr algn="ctr"/>
            <a:r>
              <a:rPr sz="1700" b="0">
                <a:solidFill>
                  <a:srgbClr val="5F6368"/>
                </a:solidFill>
                <a:latin typeface="Arial"/>
              </a:rPr>
              <a:t>dog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72000" y="22139999"/>
            <a:ext cx="108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6000" y="22139999"/>
            <a:ext cx="108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2B2B2B"/>
                </a:solidFill>
                <a:latin typeface="Arial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8000" y="24155999"/>
            <a:ext cx="144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Arial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0000" y="21959999"/>
            <a:ext cx="3312000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EB6834"/>
                </a:solidFill>
                <a:latin typeface="Arial"/>
              </a:rPr>
              <a:t>30 &gt; 2 + 16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000" y="24767999"/>
            <a:ext cx="11592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0" i="0">
                <a:solidFill>
                  <a:srgbClr val="2B2B2B"/>
                </a:solidFill>
                <a:latin typeface="Arial"/>
              </a:rPr>
              <a:t>A search tree assumes the direct route is never longer than the detour. With sHash it can be, so the tree </a:t>
            </a:r>
            <a:r>
              <a:rPr sz="2600" b="1" i="0">
                <a:solidFill>
                  <a:srgbClr val="2B2B2B"/>
                </a:solidFill>
                <a:latin typeface="Arial"/>
              </a:rPr>
              <a:t>skips a branch holding a real copy</a:t>
            </a:r>
            <a:r>
              <a:rPr sz="2600" b="0" i="0">
                <a:solidFill>
                  <a:srgbClr val="2B2B2B"/>
                </a:solidFill>
                <a:latin typeface="Arial"/>
              </a:rPr>
              <a:t> and nothing looks wrong.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0000" y="26459999"/>
            <a:ext cx="11592000" cy="827999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l"/>
            <a:r>
              <a:rPr sz="3800" b="1">
                <a:solidFill>
                  <a:srgbClr val="1B3A6B"/>
                </a:solidFill>
                <a:latin typeface="Arial"/>
              </a:rPr>
              <a:t>The honest part: what ORB costs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0000" y="26459999"/>
            <a:ext cx="162000" cy="827999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0000" y="27575999"/>
            <a:ext cx="11592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0" i="0">
                <a:solidFill>
                  <a:srgbClr val="2B2B2B"/>
                </a:solidFill>
                <a:latin typeface="Arial"/>
              </a:rPr>
              <a:t>The paper stores its four hashes, </a:t>
            </a:r>
            <a:r>
              <a:rPr sz="2600" b="1" i="0">
                <a:solidFill>
                  <a:srgbClr val="2B2B2B"/>
                </a:solidFill>
                <a:latin typeface="Arial"/>
              </a:rPr>
              <a:t>≈56 bytes</a:t>
            </a:r>
            <a:r>
              <a:rPr sz="2600" b="0" i="0">
                <a:solidFill>
                  <a:srgbClr val="2B2B2B"/>
                </a:solidFill>
                <a:latin typeface="Arial"/>
              </a:rPr>
              <a:t>, inside each mint transaction (300–500 bytes). ORB stores </a:t>
            </a:r>
            <a:r>
              <a:rPr sz="2600" b="1" i="0">
                <a:solidFill>
                  <a:srgbClr val="2B2B2B"/>
                </a:solidFill>
                <a:latin typeface="Arial"/>
              </a:rPr>
              <a:t>14,560 bytes</a:t>
            </a:r>
            <a:r>
              <a:rPr sz="2600" b="0" i="0">
                <a:solidFill>
                  <a:srgbClr val="2B2B2B"/>
                </a:solidFill>
                <a:latin typeface="Arial"/>
              </a:rPr>
              <a:t> per image: about 36 transactions.</a:t>
            </a:r>
          </a:p>
        </p:txBody>
      </p:sp>
      <p:pic>
        <p:nvPicPr>
          <p:cNvPr id="49" name="Picture 48" descr="fig_stor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000" y="29087999"/>
            <a:ext cx="6912000" cy="427411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20000" y="33506112"/>
            <a:ext cx="115920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0" i="0">
                <a:solidFill>
                  <a:srgbClr val="2B2B2B"/>
                </a:solidFill>
                <a:latin typeface="Arial"/>
              </a:rPr>
              <a:t>Shrink it and the advantage goes first: at 32 landmarks (1 KB, still 2.6 transactions) ORB only ties sHash. </a:t>
            </a:r>
            <a:r>
              <a:rPr sz="2600" b="1" i="0">
                <a:solidFill>
                  <a:srgbClr val="2B2B2B"/>
                </a:solidFill>
                <a:latin typeface="Arial"/>
              </a:rPr>
              <a:t>No size both fits and wins.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88000" y="5400000"/>
            <a:ext cx="11592000" cy="827999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l"/>
            <a:r>
              <a:rPr sz="3800" b="1">
                <a:solidFill>
                  <a:srgbClr val="1B3A6B"/>
                </a:solidFill>
                <a:latin typeface="Arial"/>
              </a:rPr>
              <a:t>Our replacement: ORB feature matching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888000" y="5400000"/>
            <a:ext cx="162000" cy="827999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orb_match_rot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88000" y="6516000"/>
            <a:ext cx="6300000" cy="40113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9476000" y="6516000"/>
            <a:ext cx="5004000" cy="4011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1" i="0">
                <a:solidFill>
                  <a:srgbClr val="2B2B2B"/>
                </a:solidFill>
                <a:latin typeface="Arial"/>
              </a:rPr>
              <a:t>Find landmarks</a:t>
            </a:r>
            <a:r>
              <a:rPr sz="2400" b="0" i="0">
                <a:solidFill>
                  <a:srgbClr val="2B2B2B"/>
                </a:solidFill>
                <a:latin typeface="Arial"/>
              </a:rPr>
              <a:t> (corners) in both images, </a:t>
            </a:r>
            <a:r>
              <a:rPr sz="2400" b="1" i="0">
                <a:solidFill>
                  <a:srgbClr val="2B2B2B"/>
                </a:solidFill>
                <a:latin typeface="Arial"/>
              </a:rPr>
              <a:t>match</a:t>
            </a:r>
            <a:r>
              <a:rPr sz="2400" b="0" i="0">
                <a:solidFill>
                  <a:srgbClr val="2B2B2B"/>
                </a:solidFill>
                <a:latin typeface="Arial"/>
              </a:rPr>
              <a:t> them, and let </a:t>
            </a:r>
            <a:r>
              <a:rPr sz="2400" b="1" i="0">
                <a:solidFill>
                  <a:srgbClr val="2B2B2B"/>
                </a:solidFill>
                <a:latin typeface="Arial"/>
              </a:rPr>
              <a:t>RANSAC</a:t>
            </a:r>
            <a:r>
              <a:rPr sz="2400" b="0" i="0">
                <a:solidFill>
                  <a:srgbClr val="2B2B2B"/>
                </a:solidFill>
                <a:latin typeface="Arial"/>
              </a:rPr>
              <a:t> keep only the matches that agree on one transformation.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 i="0">
                <a:solidFill>
                  <a:srgbClr val="2B2B2B"/>
                </a:solidFill>
                <a:latin typeface="Arial"/>
              </a:rPr>
              <a:t>Here 204 matches agree on one rotation. ORB replaces sHash; the other three hashes and the vote are untouched.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888000" y="10995328"/>
            <a:ext cx="11592000" cy="827999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l"/>
            <a:r>
              <a:rPr sz="3800" b="1">
                <a:solidFill>
                  <a:srgbClr val="1B3A6B"/>
                </a:solidFill>
                <a:latin typeface="Arial"/>
              </a:rPr>
              <a:t>Result 1: +14.2 F1 on sHash's own job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888000" y="10995328"/>
            <a:ext cx="162000" cy="827999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fig_head_to_he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88000" y="12111328"/>
            <a:ext cx="6660000" cy="439367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9836000" y="12111328"/>
            <a:ext cx="4644000" cy="4393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 i="0">
                <a:solidFill>
                  <a:srgbClr val="2B2B2B"/>
                </a:solidFill>
                <a:latin typeface="Arial"/>
              </a:rPr>
              <a:t>On the crop and rotation copies sHash was built for.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 i="0">
                <a:solidFill>
                  <a:srgbClr val="2B2B2B"/>
                </a:solidFill>
                <a:latin typeface="Arial"/>
              </a:rPr>
              <a:t>sHash was </a:t>
            </a:r>
            <a:r>
              <a:rPr sz="2400" b="1" i="0">
                <a:solidFill>
                  <a:srgbClr val="2B2B2B"/>
                </a:solidFill>
                <a:latin typeface="Arial"/>
              </a:rPr>
              <a:t>allowed to pick its threshold on the test answers</a:t>
            </a:r>
            <a:r>
              <a:rPr sz="2400" b="0" i="0">
                <a:solidFill>
                  <a:srgbClr val="2B2B2B"/>
                </a:solidFill>
                <a:latin typeface="Arial"/>
              </a:rPr>
              <a:t>; ORB's was set on training data.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 i="0">
                <a:solidFill>
                  <a:srgbClr val="2B2B2B"/>
                </a:solidFill>
                <a:latin typeface="Arial"/>
              </a:rPr>
              <a:t>sHash keeps its recall by flagging </a:t>
            </a:r>
            <a:r>
              <a:rPr sz="2400" b="1" i="0">
                <a:solidFill>
                  <a:srgbClr val="2B2B2B"/>
                </a:solidFill>
                <a:latin typeface="Arial"/>
              </a:rPr>
              <a:t>1,630 of 2,400</a:t>
            </a:r>
            <a:r>
              <a:rPr sz="2400" b="0" i="0">
                <a:solidFill>
                  <a:srgbClr val="2B2B2B"/>
                </a:solidFill>
                <a:latin typeface="Arial"/>
              </a:rPr>
              <a:t> innocent images.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888000" y="16973003"/>
            <a:ext cx="11592000" cy="827999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l"/>
            <a:r>
              <a:rPr sz="3800" b="1">
                <a:solidFill>
                  <a:srgbClr val="1B3A6B"/>
                </a:solidFill>
                <a:latin typeface="Arial"/>
              </a:rPr>
              <a:t>Result 2: it wins almost everywhere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888000" y="16973003"/>
            <a:ext cx="162000" cy="827999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fig_by_edit_ty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88000" y="18089003"/>
            <a:ext cx="7380000" cy="346360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0556000" y="18089003"/>
            <a:ext cx="3924000" cy="34636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Share of each edit's copies ORB catches (precision 91.2%).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One clean failure: </a:t>
            </a:r>
            <a:r>
              <a:rPr sz="2300" b="1" i="0">
                <a:solidFill>
                  <a:srgbClr val="2B2B2B"/>
                </a:solidFill>
                <a:latin typeface="Arial"/>
              </a:rPr>
              <a:t>pixelation</a:t>
            </a:r>
            <a:r>
              <a:rPr sz="2300" b="0" i="0">
                <a:solidFill>
                  <a:srgbClr val="2B2B2B"/>
                </a:solidFill>
                <a:latin typeface="Arial"/>
              </a:rPr>
              <a:t> destroys the detail corners are made of.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 i="0">
                <a:solidFill>
                  <a:srgbClr val="5F6368"/>
                </a:solidFill>
                <a:latin typeface="Arial"/>
              </a:rPr>
              <a:t>*Always includes rotation; pure mirrors: 100%.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888000" y="22020609"/>
            <a:ext cx="11592000" cy="827999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l"/>
            <a:r>
              <a:rPr sz="3800" b="1">
                <a:solidFill>
                  <a:srgbClr val="1B3A6B"/>
                </a:solidFill>
                <a:latin typeface="Arial"/>
              </a:rPr>
              <a:t>Result 3: +8.9 F1 in the whole detector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888000" y="22020609"/>
            <a:ext cx="162000" cy="827999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fig_whole_detec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88000" y="23136609"/>
            <a:ext cx="6660000" cy="4074805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9836000" y="23136609"/>
            <a:ext cx="4644000" cy="40748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 i="0">
                <a:solidFill>
                  <a:srgbClr val="2B2B2B"/>
                </a:solidFill>
                <a:latin typeface="Arial"/>
              </a:rPr>
              <a:t>Change only sHash; keep the paper's own thresholds.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400" b="0" i="0">
                <a:solidFill>
                  <a:srgbClr val="2B2B2B"/>
                </a:solidFill>
                <a:latin typeface="Arial"/>
              </a:rPr>
              <a:t>At the same </a:t>
            </a:r>
            <a:r>
              <a:rPr sz="2400" b="1" i="0">
                <a:solidFill>
                  <a:srgbClr val="2B2B2B"/>
                </a:solidFill>
                <a:latin typeface="Arial"/>
              </a:rPr>
              <a:t>98.1% precision</a:t>
            </a:r>
            <a:r>
              <a:rPr sz="2400" b="0" i="0">
                <a:solidFill>
                  <a:srgbClr val="2B2B2B"/>
                </a:solidFill>
                <a:latin typeface="Arial"/>
              </a:rPr>
              <a:t>, recall rises from </a:t>
            </a:r>
            <a:r>
              <a:rPr sz="2400" b="1" i="0">
                <a:solidFill>
                  <a:srgbClr val="2B2B2B"/>
                </a:solidFill>
                <a:latin typeface="Arial"/>
              </a:rPr>
              <a:t>64.1% to 77.2%</a:t>
            </a:r>
            <a:r>
              <a:rPr sz="2400" b="0" i="0">
                <a:solidFill>
                  <a:srgbClr val="2B2B2B"/>
                </a:solidFill>
                <a:latin typeface="Arial"/>
              </a:rPr>
              <a:t>: ~1,500 more copies caught.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000" b="0" i="0">
                <a:solidFill>
                  <a:srgbClr val="5F6368"/>
                </a:solidFill>
                <a:latin typeface="Arial"/>
              </a:rPr>
              <a:t>Our test set is 82.6% copies, so equal precision is the fair comparison.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888000" y="27679414"/>
            <a:ext cx="11592000" cy="827999"/>
          </a:xfrm>
          <a:prstGeom prst="rect">
            <a:avLst/>
          </a:prstGeom>
          <a:solidFill>
            <a:srgbClr val="E3E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0"/>
          <a:lstStyle/>
          <a:p>
            <a:pPr algn="l"/>
            <a:r>
              <a:rPr sz="3800" b="1">
                <a:solidFill>
                  <a:srgbClr val="1B3A6B"/>
                </a:solidFill>
                <a:latin typeface="Arial"/>
              </a:rPr>
              <a:t>What we learned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888000" y="27679414"/>
            <a:ext cx="162000" cy="827999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888000" y="28795414"/>
            <a:ext cx="11592000" cy="39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400" b="1" i="0">
                <a:solidFill>
                  <a:srgbClr val="2B2B2B"/>
                </a:solidFill>
                <a:latin typeface="Arial"/>
              </a:rPr>
              <a:t>Check the maths before optimising it. </a:t>
            </a:r>
            <a:r>
              <a:rPr sz="2400" b="0" i="0">
                <a:solidFill>
                  <a:srgbClr val="2B2B2B"/>
                </a:solidFill>
                <a:latin typeface="Arial"/>
              </a:rPr>
              <a:t>We set out to make the search faster and found it was unsound.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400" b="1" i="0">
                <a:solidFill>
                  <a:srgbClr val="2B2B2B"/>
                </a:solidFill>
                <a:latin typeface="Arial"/>
              </a:rPr>
              <a:t>How a signal is stored decides how it can be searched. </a:t>
            </a:r>
            <a:r>
              <a:rPr sz="2400" b="0" i="0">
                <a:solidFill>
                  <a:srgbClr val="2B2B2B"/>
                </a:solidFill>
                <a:latin typeface="Arial"/>
              </a:rPr>
              <a:t>A fingerprint fits a tree; a set of landmarks needs LSH, and far more space.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400" b="1" i="0">
                <a:solidFill>
                  <a:srgbClr val="2B2B2B"/>
                </a:solidFill>
                <a:latin typeface="Arial"/>
              </a:rPr>
              <a:t>A negative result is still a result. </a:t>
            </a:r>
            <a:r>
              <a:rPr sz="2400" b="0" i="0">
                <a:solidFill>
                  <a:srgbClr val="2B2B2B"/>
                </a:solidFill>
                <a:latin typeface="Arial"/>
              </a:rPr>
              <a:t>Our edit classifier predicts which signals an edit breaks (100% / 97.5%), but doesn't improve the detector: broken signals go silent rather than voting wrongly.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2400" b="1" i="0">
                <a:solidFill>
                  <a:srgbClr val="2A78D6"/>
                </a:solidFill>
                <a:latin typeface="Arial"/>
              </a:rPr>
              <a:t>Next: </a:t>
            </a:r>
            <a:r>
              <a:rPr sz="2400" b="0" i="0">
                <a:solidFill>
                  <a:srgbClr val="2B2B2B"/>
                </a:solidFill>
                <a:latin typeface="Arial"/>
              </a:rPr>
              <a:t>keep ORB's landmarks off-chain with a small commitment on-chain. Letting the cheap hashes shortlist candidates for an off-chain ORB check is an untested idea.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35136000"/>
            <a:ext cx="25200000" cy="864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0000" y="35280000"/>
            <a:ext cx="23760000" cy="57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2000" b="0" i="0">
                <a:solidFill>
                  <a:srgbClr val="C9D6EA"/>
                </a:solidFill>
                <a:latin typeface="Arial"/>
              </a:rPr>
              <a:t>Based on Kotzer, Reviriego, Conde Diaz and Rottenstreich, "Combating NFT Copymints in Blockchain Networks: An Image Hashing Approach".   Code and full report in the project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